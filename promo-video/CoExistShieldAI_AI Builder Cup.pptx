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7.jpg"/><Relationship Id="rId7"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defRPr sz="2200" b="1">
                <a:solidFill>
                  <a:srgbClr val="8AB4F8"/>
                </a:solidFill>
                <a:latin typeface="Google Sans Flex"/>
              </a:defRPr>
            </a:pPr>
            <a:r>
              <a:t>Team Details</a:t>
            </a:r>
            <a:endParaRPr sz="2100">
              <a:latin typeface="Google Sans Flex SemiBold"/>
              <a:ea typeface="Google Sans Flex SemiBold"/>
              <a:cs typeface="Google Sans Flex SemiBold"/>
              <a:sym typeface="Google Sans Flex SemiBold"/>
            </a:endParaRPr>
          </a:p>
          <a:p>
            <a:pPr>
              <a:spcAft>
                <a:spcPts val="700"/>
              </a:spcAft>
            </a:pPr>
            <a:r>
              <a:rPr sz="1250" b="1">
                <a:solidFill>
                  <a:srgbClr val="FFFFFF"/>
                </a:solidFill>
                <a:latin typeface="Google Sans Flex"/>
              </a:rPr>
              <a:t>Team name:  </a:t>
            </a:r>
            <a:r>
              <a:rPr sz="1150">
                <a:solidFill>
                  <a:srgbClr val="BDC1C6"/>
                </a:solidFill>
                <a:latin typeface="Google Sans Flex"/>
              </a:rPr>
              <a:t>CoExist Shield AI</a:t>
            </a:r>
          </a:p>
          <a:p>
            <a:pPr>
              <a:spcAft>
                <a:spcPts val="700"/>
              </a:spcAft>
            </a:pPr>
            <a:r>
              <a:rPr sz="1250" b="1">
                <a:solidFill>
                  <a:srgbClr val="FFFFFF"/>
                </a:solidFill>
                <a:latin typeface="Google Sans Flex"/>
              </a:rPr>
              <a:t>Team leader name:  </a:t>
            </a:r>
            <a:r>
              <a:rPr sz="1150">
                <a:solidFill>
                  <a:srgbClr val="BDC1C6"/>
                </a:solidFill>
                <a:latin typeface="Google Sans Flex"/>
              </a:rPr>
              <a:t>Kat (Project Lead / Core Architect)</a:t>
            </a:r>
          </a:p>
          <a:p>
            <a:pPr>
              <a:spcAft>
                <a:spcPts val="700"/>
              </a:spcAft>
            </a:pPr>
            <a:r>
              <a:rPr sz="1250" b="1">
                <a:solidFill>
                  <a:srgbClr val="FFFFFF"/>
                </a:solidFill>
                <a:latin typeface="Google Sans Flex"/>
              </a:rPr>
              <a:t>Problem Statement:  </a:t>
            </a:r>
            <a:r>
              <a:rPr sz="1150">
                <a:solidFill>
                  <a:srgbClr val="BDC1C6"/>
                </a:solidFill>
                <a:latin typeface="Google Sans Flex"/>
              </a:rPr>
              <a:t>Across tropical and temperate regions, human-wildlife encounters cause tragic fatalities, devastating crop raids ($50k–$200k/night), and severe zoonotic disease spillover risks. Existing reactive responses (hotlines, static physical fences) fail because they ignore causal attractants (crop ripening, rotting roadkill carcasses). CoExist Shield AI delivers an autonomous, multi-source predictive geofencing platform with 3-tier mobile &amp; Wear OS tactile alerts to safeguard human lives, crops, and biodiversity.</a:t>
            </a: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defRPr sz="2000" b="1">
                <a:solidFill>
                  <a:srgbClr val="FFFFFF"/>
                </a:solidFill>
                <a:latin typeface="Google Sans Flex"/>
              </a:defRPr>
            </a:pPr>
            <a:r>
              <a:t>Executive Overview: Autonomous Coexistence Platform</a:t>
            </a:r>
            <a:endParaRPr/>
          </a:p>
        </p:txBody>
      </p:sp>
      <p:sp>
        <p:nvSpPr>
          <p:cNvPr id="63" name="Rounded Rectangle 62"/>
          <p:cNvSpPr/>
          <p:nvPr/>
        </p:nvSpPr>
        <p:spPr>
          <a:xfrm>
            <a:off x="36576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200"/>
              </a:spcAft>
              <a:defRPr sz="1300" b="1">
                <a:solidFill>
                  <a:srgbClr val="8AB4F8"/>
                </a:solidFill>
                <a:latin typeface="Google Sans Flex"/>
              </a:defRPr>
            </a:pPr>
            <a:r>
              <a:t>1. Multi-Source Causal AI Brain</a:t>
            </a:r>
          </a:p>
          <a:p>
            <a:pPr>
              <a:spcAft>
                <a:spcPts val="800"/>
              </a:spcAft>
            </a:pPr>
            <a:r>
              <a:rPr b="1" sz="1050">
                <a:solidFill>
                  <a:srgbClr val="FFFFFF"/>
                </a:solidFill>
              </a:rPr>
              <a:t>• Continuous Ingestion: </a:t>
            </a:r>
            <a:r>
              <a:rPr sz="1000">
                <a:solidFill>
                  <a:srgbClr val="BDC1C6"/>
                </a:solidFill>
              </a:rPr>
              <a:t>Monitors agricultural harvest phenology, NASA FIRMS thermal hotspots, road traffic, and weather.</a:t>
            </a:r>
          </a:p>
          <a:p>
            <a:pPr>
              <a:spcAft>
                <a:spcPts val="800"/>
              </a:spcAft>
            </a:pPr>
            <a:r>
              <a:rPr b="1" sz="1050">
                <a:solidFill>
                  <a:srgbClr val="FFFFFF"/>
                </a:solidFill>
              </a:rPr>
              <a:t>• Scent &amp; Prey Dynamics: </a:t>
            </a:r>
            <a:r>
              <a:rPr sz="1000">
                <a:solidFill>
                  <a:srgbClr val="BDC1C6"/>
                </a:solidFill>
              </a:rPr>
              <a:t>Models carcass decomposition, wind plumes, and moon illumination to forecast movement corridors.</a:t>
            </a:r>
          </a:p>
        </p:txBody>
      </p:sp>
      <p:sp>
        <p:nvSpPr>
          <p:cNvPr id="64" name="Rounded Rectangle 63"/>
          <p:cNvSpPr/>
          <p:nvPr/>
        </p:nvSpPr>
        <p:spPr>
          <a:xfrm>
            <a:off x="324612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200"/>
              </a:spcAft>
              <a:defRPr sz="1300" b="1">
                <a:solidFill>
                  <a:srgbClr val="81C995"/>
                </a:solidFill>
                <a:latin typeface="Google Sans Flex"/>
              </a:defRPr>
            </a:pPr>
            <a:r>
              <a:t>2. Real-Time 3-Tier Alert Ecosystem</a:t>
            </a:r>
          </a:p>
          <a:p>
            <a:pPr>
              <a:spcAft>
                <a:spcPts val="800"/>
              </a:spcAft>
            </a:pPr>
            <a:r>
              <a:rPr b="1" sz="1050">
                <a:solidFill>
                  <a:srgbClr val="FFFFFF"/>
                </a:solidFill>
              </a:rPr>
              <a:t>• Mobile Field App: </a:t>
            </a:r>
            <a:r>
              <a:rPr sz="1000">
                <a:solidFill>
                  <a:srgbClr val="BDC1C6"/>
                </a:solidFill>
              </a:rPr>
              <a:t>Instant Level 1 (Notice), Level 2 (Warning), and Level 3 (Danger Siren) geofences.</a:t>
            </a:r>
          </a:p>
          <a:p>
            <a:pPr>
              <a:spcAft>
                <a:spcPts val="800"/>
              </a:spcAft>
            </a:pPr>
            <a:r>
              <a:rPr b="1" sz="1050">
                <a:solidFill>
                  <a:srgbClr val="FFFFFF"/>
                </a:solidFill>
              </a:rPr>
              <a:t>• Wear OS Companion: </a:t>
            </a:r>
            <a:r>
              <a:rPr sz="1000">
                <a:solidFill>
                  <a:srgbClr val="BDC1C6"/>
                </a:solidFill>
              </a:rPr>
              <a:t>AMOLED circular tactical meter with escalating wrist haptic pulses for eyes-free safety in dense jungle.</a:t>
            </a:r>
          </a:p>
        </p:txBody>
      </p:sp>
      <p:sp>
        <p:nvSpPr>
          <p:cNvPr id="65" name="Rounded Rectangle 64"/>
          <p:cNvSpPr/>
          <p:nvPr/>
        </p:nvSpPr>
        <p:spPr>
          <a:xfrm>
            <a:off x="612648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200"/>
              </a:spcAft>
              <a:defRPr sz="1300" b="1">
                <a:solidFill>
                  <a:srgbClr val="FDD663"/>
                </a:solidFill>
                <a:latin typeface="Google Sans Flex"/>
              </a:defRPr>
            </a:pPr>
            <a:r>
              <a:t>3. Production Cloud &amp; JAPAC GIS</a:t>
            </a:r>
          </a:p>
          <a:p>
            <a:pPr>
              <a:spcAft>
                <a:spcPts val="800"/>
              </a:spcAft>
            </a:pPr>
            <a:r>
              <a:rPr b="1" sz="1050">
                <a:solidFill>
                  <a:srgbClr val="FFFFFF"/>
                </a:solidFill>
              </a:rPr>
              <a:t>• Cloud Run Microservice: </a:t>
            </a:r>
            <a:r>
              <a:rPr sz="1000">
                <a:solidFill>
                  <a:srgbClr val="BDC1C6"/>
                </a:solidFill>
              </a:rPr>
              <a:t>Ultra-lightweight Go 1.24 distroless backend (&lt;10ms cold start) deployed in Singapore.</a:t>
            </a:r>
          </a:p>
          <a:p>
            <a:pPr>
              <a:spcAft>
                <a:spcPts val="800"/>
              </a:spcAft>
            </a:pPr>
            <a:r>
              <a:rPr b="1" sz="1050">
                <a:solidFill>
                  <a:srgbClr val="FFFFFF"/>
                </a:solidFill>
              </a:rPr>
              <a:t>• Angular 22 Admin Portal: </a:t>
            </a:r>
            <a:r>
              <a:rPr sz="1000">
                <a:solidFill>
                  <a:srgbClr val="BDC1C6"/>
                </a:solidFill>
              </a:rPr>
              <a:t>Full JAPAC Google Maps console with manual geofencing and emergency area broadcasts.</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Brief about the idea: CoExist Shield AI</a:t>
            </a:r>
            <a:endParaRPr sz="1600">
              <a:latin typeface="Google Sans Flex Medium"/>
              <a:ea typeface="Google Sans Flex Medium"/>
              <a:cs typeface="Google Sans Flex Medium"/>
              <a:sym typeface="Google Sans Flex Medium"/>
            </a:endParaRPr>
          </a:p>
        </p:txBody>
      </p:sp>
      <p:sp>
        <p:nvSpPr>
          <p:cNvPr id="72" name="Rounded Rectangle 71"/>
          <p:cNvSpPr/>
          <p:nvPr/>
        </p:nvSpPr>
        <p:spPr>
          <a:xfrm>
            <a:off x="365760" y="1234440"/>
            <a:ext cx="40690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201168" rIns="228600"/>
          <a:lstStyle/>
          <a:p>
            <a:pPr algn="ctr">
              <a:spcAft>
                <a:spcPts val="1000"/>
              </a:spcAft>
              <a:defRPr sz="1350" b="1">
                <a:solidFill>
                  <a:srgbClr val="81C995"/>
                </a:solidFill>
                <a:latin typeface="Google Sans Flex"/>
              </a:defRPr>
            </a:pPr>
            <a:r>
              <a:t>The Ecological Insight: Root-Cause Attractants</a:t>
            </a:r>
          </a:p>
          <a:p>
            <a:pPr>
              <a:spcAft>
                <a:spcPts val="800"/>
              </a:spcAft>
            </a:pPr>
            <a:r>
              <a:rPr b="1" sz="1050">
                <a:solidFill>
                  <a:srgbClr val="FFFFFF"/>
                </a:solidFill>
              </a:rPr>
              <a:t>• Crop-Raiding Drivers: </a:t>
            </a:r>
            <a:r>
              <a:rPr sz="1000">
                <a:solidFill>
                  <a:srgbClr val="BDC1C6"/>
                </a:solidFill>
              </a:rPr>
              <a:t>Elephants raid plantations not randomly, but driven by acute olfactory attraction to high-calorie ripening sugarcane, bananas, and jackfruit.</a:t>
            </a:r>
          </a:p>
          <a:p>
            <a:pPr>
              <a:spcAft>
                <a:spcPts val="800"/>
              </a:spcAft>
            </a:pPr>
            <a:r>
              <a:rPr b="1" sz="1050">
                <a:solidFill>
                  <a:srgbClr val="FFFFFF"/>
                </a:solidFill>
              </a:rPr>
              <a:t>• Predator Prey Magnets: </a:t>
            </a:r>
            <a:r>
              <a:rPr sz="1000">
                <a:solidFill>
                  <a:srgbClr val="BDC1C6"/>
                </a:solidFill>
              </a:rPr>
              <a:t>Tigers are lured to plantation edges by domestic livestock corrals and roadside carcasses. Tigers exhibit kill-site caching (returning over 24–72 hours), creating deadly ambush flashpoints.</a:t>
            </a:r>
          </a:p>
          <a:p>
            <a:pPr>
              <a:spcAft>
                <a:spcPts val="800"/>
              </a:spcAft>
            </a:pPr>
            <a:r>
              <a:rPr b="1" sz="1050">
                <a:solidFill>
                  <a:srgbClr val="FFFFFF"/>
                </a:solidFill>
              </a:rPr>
              <a:t>• The Global One Health Threat: </a:t>
            </a:r>
            <a:r>
              <a:rPr sz="1000">
                <a:solidFill>
                  <a:srgbClr val="BDC1C6"/>
                </a:solidFill>
              </a:rPr>
              <a:t>Decomposing carcasses breed infectious pathogens and fuel dangerous bushmeat trade, posing severe zoonotic pandemic risks.</a:t>
            </a:r>
          </a:p>
        </p:txBody>
      </p:sp>
      <p:sp>
        <p:nvSpPr>
          <p:cNvPr id="73" name="Rounded Rectangle 72"/>
          <p:cNvSpPr/>
          <p:nvPr/>
        </p:nvSpPr>
        <p:spPr>
          <a:xfrm>
            <a:off x="4709160" y="1234440"/>
            <a:ext cx="40690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201168" rIns="228600"/>
          <a:lstStyle/>
          <a:p>
            <a:pPr algn="ctr">
              <a:spcAft>
                <a:spcPts val="1000"/>
              </a:spcAft>
              <a:defRPr sz="1350" b="1">
                <a:solidFill>
                  <a:srgbClr val="8AB4F8"/>
                </a:solidFill>
                <a:latin typeface="Google Sans Flex"/>
              </a:defRPr>
            </a:pPr>
            <a:r>
              <a:t>The Autonomous Predictive Shield</a:t>
            </a:r>
          </a:p>
          <a:p>
            <a:pPr>
              <a:spcAft>
                <a:spcPts val="800"/>
              </a:spcAft>
            </a:pPr>
            <a:r>
              <a:rPr b="1" sz="1050">
                <a:solidFill>
                  <a:srgbClr val="FFFFFF"/>
                </a:solidFill>
              </a:rPr>
              <a:t>• Predictive Geofencing Engine: </a:t>
            </a:r>
            <a:r>
              <a:rPr sz="1000">
                <a:solidFill>
                  <a:srgbClr val="BDC1C6"/>
                </a:solidFill>
              </a:rPr>
              <a:t>Replaces static physical fences with dynamic spatial hazard polygons recalculated in real time from meteorological, phenological, and sensor streams.</a:t>
            </a:r>
          </a:p>
          <a:p>
            <a:pPr>
              <a:spcAft>
                <a:spcPts val="800"/>
              </a:spcAft>
            </a:pPr>
            <a:r>
              <a:rPr b="1" sz="1050">
                <a:solidFill>
                  <a:srgbClr val="FFFFFF"/>
                </a:solidFill>
              </a:rPr>
              <a:t>• Instant Multi-Surface Alerts: </a:t>
            </a:r>
            <a:r>
              <a:rPr sz="1000">
                <a:solidFill>
                  <a:srgbClr val="BDC1C6"/>
                </a:solidFill>
              </a:rPr>
              <a:t>Delivers sub-second 3-tier warnings (Notice / Warning / Danger Siren) to mobile devices and Wear OS smartwatches before field workers enter danger zones.</a:t>
            </a:r>
          </a:p>
          <a:p>
            <a:pPr>
              <a:spcAft>
                <a:spcPts val="800"/>
              </a:spcAft>
            </a:pPr>
            <a:r>
              <a:rPr b="1" sz="1050">
                <a:solidFill>
                  <a:srgbClr val="FFFFFF"/>
                </a:solidFill>
              </a:rPr>
              <a:t>• Actionable Incident Response: </a:t>
            </a:r>
            <a:r>
              <a:rPr sz="1000">
                <a:solidFill>
                  <a:srgbClr val="BDC1C6"/>
                </a:solidFill>
              </a:rPr>
              <a:t>Rangers and municipal teams receive prioritized carcass removal targets and harvest coordination proposals to neutralize attractants before carnivores arrive.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Opportunities, Problem Solving &amp; Key USP</a:t>
            </a:r>
            <a:endParaRPr sz="1600">
              <a:latin typeface="Google Sans Flex SemiBold"/>
              <a:ea typeface="Google Sans Flex SemiBold"/>
              <a:cs typeface="Google Sans Flex SemiBold"/>
              <a:sym typeface="Google Sans Flex SemiBold"/>
            </a:endParaRPr>
          </a:p>
        </p:txBody>
      </p:sp>
      <p:sp>
        <p:nvSpPr>
          <p:cNvPr id="80" name="Rounded Rectangle 79"/>
          <p:cNvSpPr/>
          <p:nvPr/>
        </p:nvSpPr>
        <p:spPr>
          <a:xfrm>
            <a:off x="36576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300" b="1">
                <a:solidFill>
                  <a:srgbClr val="8AB4F8"/>
                </a:solidFill>
                <a:latin typeface="Google Sans Flex"/>
              </a:defRPr>
            </a:pPr>
            <a:r>
              <a:t>High-Stakes Opportunities</a:t>
            </a:r>
          </a:p>
          <a:p>
            <a:pPr>
              <a:spcAft>
                <a:spcPts val="600"/>
              </a:spcAft>
            </a:pPr>
            <a:r>
              <a:rPr b="1" sz="1000">
                <a:solidFill>
                  <a:srgbClr val="FFFFFF"/>
                </a:solidFill>
              </a:rPr>
              <a:t>• Global Economic Toll: </a:t>
            </a:r>
            <a:r>
              <a:rPr sz="950">
                <a:solidFill>
                  <a:srgbClr val="BDC1C6"/>
                </a:solidFill>
              </a:rPr>
              <a:t>$5B+ in annual agricultural &amp; livestock damage worldwide. Single elephant raid causes $50k–$200k in lost crops.</a:t>
            </a:r>
          </a:p>
          <a:p>
            <a:pPr>
              <a:spcAft>
                <a:spcPts val="600"/>
              </a:spcAft>
            </a:pPr>
            <a:r>
              <a:rPr b="1" sz="1000">
                <a:solidFill>
                  <a:srgbClr val="FFFFFF"/>
                </a:solidFill>
              </a:rPr>
              <a:t>• Labor Stoppage Costs: </a:t>
            </a:r>
            <a:r>
              <a:rPr sz="950">
                <a:solidFill>
                  <a:srgbClr val="BDC1C6"/>
                </a:solidFill>
              </a:rPr>
              <a:t>A single fatal tiger encounter causes weeks of plantation harvester labor strikes, paralyzing operations.</a:t>
            </a:r>
          </a:p>
          <a:p>
            <a:pPr>
              <a:spcAft>
                <a:spcPts val="600"/>
              </a:spcAft>
            </a:pPr>
            <a:r>
              <a:rPr b="1" sz="1000">
                <a:solidFill>
                  <a:srgbClr val="FFFFFF"/>
                </a:solidFill>
              </a:rPr>
              <a:t>• ESG &amp; RSPO Mandates: </a:t>
            </a:r>
            <a:r>
              <a:rPr sz="950">
                <a:solidFill>
                  <a:srgbClr val="BDC1C6"/>
                </a:solidFill>
              </a:rPr>
              <a:t>Plantation conglomerates face certification suspension and European market bans if endangered wildlife is harmed.</a:t>
            </a:r>
          </a:p>
        </p:txBody>
      </p:sp>
      <p:sp>
        <p:nvSpPr>
          <p:cNvPr id="81" name="Rounded Rectangle 80"/>
          <p:cNvSpPr/>
          <p:nvPr/>
        </p:nvSpPr>
        <p:spPr>
          <a:xfrm>
            <a:off x="324612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300" b="1">
                <a:solidFill>
                  <a:srgbClr val="81C995"/>
                </a:solidFill>
                <a:latin typeface="Google Sans Flex"/>
              </a:defRPr>
            </a:pPr>
            <a:r>
              <a:t>How It Solves The Problem</a:t>
            </a:r>
          </a:p>
          <a:p>
            <a:pPr>
              <a:spcAft>
                <a:spcPts val="600"/>
              </a:spcAft>
            </a:pPr>
            <a:r>
              <a:rPr b="1" sz="1000">
                <a:solidFill>
                  <a:srgbClr val="FFFFFF"/>
                </a:solidFill>
              </a:rPr>
              <a:t>• Root-Cause Elimination: </a:t>
            </a:r>
            <a:r>
              <a:rPr sz="950">
                <a:solidFill>
                  <a:srgbClr val="BDC1C6"/>
                </a:solidFill>
              </a:rPr>
              <a:t>Pinpoints decomposing carcasses and ripe crop clusters for rapid clearance before animals are attracted.</a:t>
            </a:r>
          </a:p>
          <a:p>
            <a:pPr>
              <a:spcAft>
                <a:spcPts val="600"/>
              </a:spcAft>
            </a:pPr>
            <a:r>
              <a:rPr b="1" sz="1000">
                <a:solidFill>
                  <a:srgbClr val="FFFFFF"/>
                </a:solidFill>
              </a:rPr>
              <a:t>• Sub-Second Early Warning: </a:t>
            </a:r>
            <a:r>
              <a:rPr sz="950">
                <a:solidFill>
                  <a:srgbClr val="BDC1C6"/>
                </a:solidFill>
              </a:rPr>
              <a:t>Field workers receive eyes-free wrist haptics 150m–300m away, providing sufficient escape time.</a:t>
            </a:r>
          </a:p>
          <a:p>
            <a:pPr>
              <a:spcAft>
                <a:spcPts val="600"/>
              </a:spcAft>
            </a:pPr>
            <a:r>
              <a:rPr b="1" sz="1000">
                <a:solidFill>
                  <a:srgbClr val="FFFFFF"/>
                </a:solidFill>
              </a:rPr>
              <a:t>• Continuous Learning Loop: </a:t>
            </a:r>
            <a:r>
              <a:rPr sz="950">
                <a:solidFill>
                  <a:srgbClr val="BDC1C6"/>
                </a:solidFill>
              </a:rPr>
              <a:t>BigQuery GIS spatio-temporal joins automatically retrain ML probability models on fresh field data.</a:t>
            </a:r>
          </a:p>
        </p:txBody>
      </p:sp>
      <p:sp>
        <p:nvSpPr>
          <p:cNvPr id="82" name="Rounded Rectangle 81"/>
          <p:cNvSpPr/>
          <p:nvPr/>
        </p:nvSpPr>
        <p:spPr>
          <a:xfrm>
            <a:off x="612648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300" b="1">
                <a:solidFill>
                  <a:srgbClr val="F28B82"/>
                </a:solidFill>
                <a:latin typeface="Google Sans Flex"/>
              </a:defRPr>
            </a:pPr>
            <a:r>
              <a:t>Core USP</a:t>
            </a:r>
          </a:p>
          <a:p>
            <a:pPr>
              <a:spcAft>
                <a:spcPts val="600"/>
              </a:spcAft>
            </a:pPr>
            <a:r>
              <a:rPr b="1" sz="1000">
                <a:solidFill>
                  <a:srgbClr val="FFFFFF"/>
                </a:solidFill>
              </a:rPr>
              <a:t>• Causal-Driven (Not Collar-Bound): </a:t>
            </a:r>
            <a:r>
              <a:rPr sz="950">
                <a:solidFill>
                  <a:srgbClr val="BDC1C6"/>
                </a:solidFill>
              </a:rPr>
              <a:t>Forecasts 100% of wildlife movement without needing invasive, expensive GPS collars on every animal.</a:t>
            </a:r>
          </a:p>
          <a:p>
            <a:pPr>
              <a:spcAft>
                <a:spcPts val="600"/>
              </a:spcAft>
            </a:pPr>
            <a:r>
              <a:rPr b="1" sz="1000">
                <a:solidFill>
                  <a:srgbClr val="FFFFFF"/>
                </a:solidFill>
              </a:rPr>
              <a:t>• Tactile Wear OS Integration: </a:t>
            </a:r>
            <a:r>
              <a:rPr sz="950">
                <a:solidFill>
                  <a:srgbClr val="BDC1C6"/>
                </a:solidFill>
              </a:rPr>
              <a:t>Distinct escalating wrist haptic waveforms allow zero-visibility situational awareness in dense jungle.</a:t>
            </a:r>
          </a:p>
          <a:p>
            <a:pPr>
              <a:spcAft>
                <a:spcPts val="600"/>
              </a:spcAft>
            </a:pPr>
            <a:r>
              <a:rPr b="1" sz="1000">
                <a:solidFill>
                  <a:srgbClr val="FFFFFF"/>
                </a:solidFill>
              </a:rPr>
              <a:t>• Live Full-Stack Deployment: </a:t>
            </a:r>
            <a:r>
              <a:rPr sz="950">
                <a:solidFill>
                  <a:srgbClr val="BDC1C6"/>
                </a:solidFill>
              </a:rPr>
              <a:t>Sub-10ms Go serverless backend + production Angular 22 admin + Kotlin Multiplatform client.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365760" y="123444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300"/>
              </a:spcAft>
              <a:defRPr sz="1200" b="1">
                <a:solidFill>
                  <a:srgbClr val="8AB4F8"/>
                </a:solidFill>
                <a:latin typeface="Google Sans Flex"/>
              </a:defRPr>
            </a:pPr>
            <a:r>
              <a:t>1. Dynamic 3-Tier Alert HUD</a:t>
            </a:r>
          </a:p>
          <a:p>
            <a:pPr>
              <a:defRPr sz="950">
                <a:solidFill>
                  <a:srgbClr val="E8EAED"/>
                </a:solidFill>
                <a:latin typeface="Google Sans Flex"/>
              </a:defRPr>
            </a:pPr>
            <a:r>
              <a:t>Progressive geofence warnings: Tier 1 Notice (Green/Yellow), Tier 2 Warning (Amber), Tier 3 Danger (Red siren + evacuation dispatch).</a:t>
            </a:r>
          </a:p>
        </p:txBody>
      </p:sp>
      <p:sp>
        <p:nvSpPr>
          <p:cNvPr id="89" name="Rounded Rectangle 88"/>
          <p:cNvSpPr/>
          <p:nvPr/>
        </p:nvSpPr>
        <p:spPr>
          <a:xfrm>
            <a:off x="4663440" y="123444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300"/>
              </a:spcAft>
              <a:defRPr sz="1200" b="1">
                <a:solidFill>
                  <a:srgbClr val="8AB4F8"/>
                </a:solidFill>
                <a:latin typeface="Google Sans Flex"/>
              </a:defRPr>
            </a:pPr>
            <a:r>
              <a:t>2. Wear OS Tactical Wrist HUD</a:t>
            </a:r>
          </a:p>
          <a:p>
            <a:pPr>
              <a:defRPr sz="950">
                <a:solidFill>
                  <a:srgbClr val="E8EAED"/>
                </a:solidFill>
                <a:latin typeface="Google Sans Flex"/>
              </a:defRPr>
            </a:pPr>
            <a:r>
              <a:t>Circular AMOLED display with ambient radial glow, inner dashed radar ring, and 4 distinct tactile haptic pulse patterns.</a:t>
            </a:r>
          </a:p>
        </p:txBody>
      </p:sp>
      <p:sp>
        <p:nvSpPr>
          <p:cNvPr id="90" name="Rounded Rectangle 89"/>
          <p:cNvSpPr/>
          <p:nvPr/>
        </p:nvSpPr>
        <p:spPr>
          <a:xfrm>
            <a:off x="365760" y="242316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300"/>
              </a:spcAft>
              <a:defRPr sz="1200" b="1">
                <a:solidFill>
                  <a:srgbClr val="8AB4F8"/>
                </a:solidFill>
                <a:latin typeface="Google Sans Flex"/>
              </a:defRPr>
            </a:pPr>
            <a:r>
              <a:t>3. Multimodal Photo Forensics</a:t>
            </a:r>
          </a:p>
          <a:p>
            <a:pPr>
              <a:defRPr sz="950">
                <a:solidFill>
                  <a:srgbClr val="E8EAED"/>
                </a:solidFill>
                <a:latin typeface="Google Sans Flex"/>
              </a:defRPr>
            </a:pPr>
            <a:r>
              <a:t>Gemini 2.5 Flash sub-2s automated classification of wildlife species, fruit ripeness stages, and carcass decay forensic analysis.</a:t>
            </a:r>
          </a:p>
        </p:txBody>
      </p:sp>
      <p:sp>
        <p:nvSpPr>
          <p:cNvPr id="91" name="Rounded Rectangle 90"/>
          <p:cNvSpPr/>
          <p:nvPr/>
        </p:nvSpPr>
        <p:spPr>
          <a:xfrm>
            <a:off x="4663440" y="242316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300"/>
              </a:spcAft>
              <a:defRPr sz="1200" b="1">
                <a:solidFill>
                  <a:srgbClr val="8AB4F8"/>
                </a:solidFill>
                <a:latin typeface="Google Sans Flex"/>
              </a:defRPr>
            </a:pPr>
            <a:r>
              <a:t>4. Predictive Attractant Maps</a:t>
            </a:r>
          </a:p>
          <a:p>
            <a:pPr>
              <a:defRPr sz="950">
                <a:solidFill>
                  <a:srgbClr val="E8EAED"/>
                </a:solidFill>
                <a:latin typeface="Google Sans Flex"/>
              </a:defRPr>
            </a:pPr>
            <a:r>
              <a:t>Interactive GIS layers for Sugarcane Phenology, Domestic Livestock Corrals, and 72-hour Tiger Kill-Site Caching alert perimeters.</a:t>
            </a:r>
          </a:p>
        </p:txBody>
      </p:sp>
      <p:sp>
        <p:nvSpPr>
          <p:cNvPr id="92" name="Rounded Rectangle 91"/>
          <p:cNvSpPr/>
          <p:nvPr/>
        </p:nvSpPr>
        <p:spPr>
          <a:xfrm>
            <a:off x="365760" y="361188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300"/>
              </a:spcAft>
              <a:defRPr sz="1200" b="1">
                <a:solidFill>
                  <a:srgbClr val="8AB4F8"/>
                </a:solidFill>
                <a:latin typeface="Google Sans Flex"/>
              </a:defRPr>
            </a:pPr>
            <a:r>
              <a:t>5. JAPAC Operations Admin Console</a:t>
            </a:r>
          </a:p>
          <a:p>
            <a:pPr>
              <a:defRPr sz="950">
                <a:solidFill>
                  <a:srgbClr val="E8EAED"/>
                </a:solidFill>
                <a:latin typeface="Google Sans Flex"/>
              </a:defRPr>
            </a:pPr>
            <a:r>
              <a:t>Angular 22 portal with Google Maps JS API, 2-column Map-Picker tabs, manual circle/polygon geofence overrides, and GCS photo uploads.</a:t>
            </a:r>
          </a:p>
        </p:txBody>
      </p:sp>
      <p:sp>
        <p:nvSpPr>
          <p:cNvPr id="93" name="Rounded Rectangle 92"/>
          <p:cNvSpPr/>
          <p:nvPr/>
        </p:nvSpPr>
        <p:spPr>
          <a:xfrm>
            <a:off x="4663440" y="361188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300"/>
              </a:spcAft>
              <a:defRPr sz="1200" b="1">
                <a:solidFill>
                  <a:srgbClr val="8AB4F8"/>
                </a:solidFill>
                <a:latin typeface="Google Sans Flex"/>
              </a:defRPr>
            </a:pPr>
            <a:r>
              <a:t>6. Enterprise GIS &amp; Continuous Retraining</a:t>
            </a:r>
          </a:p>
          <a:p>
            <a:pPr>
              <a:defRPr sz="950">
                <a:solidFill>
                  <a:srgbClr val="E8EAED"/>
                </a:solidFill>
                <a:latin typeface="Google Sans Flex"/>
              </a:defRPr>
            </a:pPr>
            <a:r>
              <a:t>Automated streaming of confirmed incidents to BigQuery GIS lake, Cloud Run ML retraining jobs, and RFC 7946 GeoJSON/CSV exports.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Process flow diagram &amp; End-to-End Use Cases</a:t>
            </a:r>
            <a:endParaRPr sz="1600">
              <a:latin typeface="Google Sans Flex Medium"/>
              <a:ea typeface="Google Sans Flex Medium"/>
              <a:cs typeface="Google Sans Flex Medium"/>
              <a:sym typeface="Google Sans Flex Medium"/>
            </a:endParaRPr>
          </a:p>
        </p:txBody>
      </p:sp>
      <p:sp>
        <p:nvSpPr>
          <p:cNvPr id="96" name="Rounded Rectangle 95"/>
          <p:cNvSpPr/>
          <p:nvPr/>
        </p:nvSpPr>
        <p:spPr>
          <a:xfrm>
            <a:off x="365760" y="1234440"/>
            <a:ext cx="841248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rIns="228600"/>
          <a:lstStyle/>
          <a:p>
            <a:pPr algn="ctr">
              <a:spcAft>
                <a:spcPts val="200"/>
              </a:spcAft>
              <a:defRPr sz="1200" b="1">
                <a:solidFill>
                  <a:srgbClr val="F28B82"/>
                </a:solidFill>
                <a:latin typeface="Google Sans Flex"/>
              </a:defRPr>
            </a:pPr>
            <a:r>
              <a:t>Use-Case A: Field Harvester Threat Aversion (Eyes-Free Safety)</a:t>
            </a:r>
          </a:p>
          <a:p>
            <a:pPr>
              <a:spcAft>
                <a:spcPts val="100"/>
              </a:spcAft>
              <a:defRPr sz="950">
                <a:solidFill>
                  <a:srgbClr val="E8EAED"/>
                </a:solidFill>
                <a:latin typeface="Google Sans Flex"/>
              </a:defRPr>
            </a:pPr>
            <a:r>
              <a:t>1. Worker walks near plantation boundary at dusk with Wear OS smartwatch &amp; mobile phone.</a:t>
            </a:r>
          </a:p>
          <a:p>
            <a:pPr>
              <a:spcAft>
                <a:spcPts val="100"/>
              </a:spcAft>
              <a:defRPr sz="950">
                <a:solidFill>
                  <a:srgbClr val="E8EAED"/>
                </a:solidFill>
                <a:latin typeface="Google Sans Flex"/>
              </a:defRPr>
            </a:pPr>
            <a:r>
              <a:t>2. Autonomous Geofence Engine detects worker crossing into active Tiger Kill-Site Cache (Tier 3 perimeter).</a:t>
            </a:r>
          </a:p>
          <a:p>
            <a:pPr>
              <a:spcAft>
                <a:spcPts val="100"/>
              </a:spcAft>
              <a:defRPr sz="950">
                <a:solidFill>
                  <a:srgbClr val="E8EAED"/>
                </a:solidFill>
                <a:latin typeface="Google Sans Flex"/>
              </a:defRPr>
            </a:pPr>
            <a:r>
              <a:t>3. Wear OS watch screen flashes red radar and executes escalating high-amplitude SOS haptic vibration (&lt;45ms).</a:t>
            </a:r>
          </a:p>
          <a:p>
            <a:pPr>
              <a:spcAft>
                <a:spcPts val="100"/>
              </a:spcAft>
              <a:defRPr sz="950">
                <a:solidFill>
                  <a:srgbClr val="E8EAED"/>
                </a:solidFill>
                <a:latin typeface="Google Sans Flex"/>
              </a:defRPr>
            </a:pPr>
            <a:r>
              <a:t>4. Harvester immediately halts, turns back along safe corridor, and safely avoids concealed apex predator.</a:t>
            </a:r>
          </a:p>
        </p:txBody>
      </p:sp>
      <p:sp>
        <p:nvSpPr>
          <p:cNvPr id="97" name="Rounded Rectangle 96"/>
          <p:cNvSpPr/>
          <p:nvPr/>
        </p:nvSpPr>
        <p:spPr>
          <a:xfrm>
            <a:off x="365760" y="2423160"/>
            <a:ext cx="841248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rIns="228600"/>
          <a:lstStyle/>
          <a:p>
            <a:pPr algn="ctr">
              <a:spcAft>
                <a:spcPts val="200"/>
              </a:spcAft>
              <a:defRPr sz="1200" b="1">
                <a:solidFill>
                  <a:srgbClr val="81C995"/>
                </a:solidFill>
                <a:latin typeface="Google Sans Flex"/>
              </a:defRPr>
            </a:pPr>
            <a:r>
              <a:t>Use-Case B: Ranger Roadkill Carcass Triage &amp; Attractant Neutralization</a:t>
            </a:r>
          </a:p>
          <a:p>
            <a:pPr>
              <a:spcAft>
                <a:spcPts val="100"/>
              </a:spcAft>
              <a:defRPr sz="950">
                <a:solidFill>
                  <a:srgbClr val="E8EAED"/>
                </a:solidFill>
                <a:latin typeface="Google Sans Flex"/>
              </a:defRPr>
            </a:pPr>
            <a:r>
              <a:t>1. Field ranger discovers fresh roadside carcass and snaps photo via CoExist Shield mobile app.</a:t>
            </a:r>
          </a:p>
          <a:p>
            <a:pPr>
              <a:spcAft>
                <a:spcPts val="100"/>
              </a:spcAft>
              <a:defRPr sz="950">
                <a:solidFill>
                  <a:srgbClr val="E8EAED"/>
                </a:solidFill>
                <a:latin typeface="Google Sans Flex"/>
              </a:defRPr>
            </a:pPr>
            <a:r>
              <a:t>2. Gemini 2.5 Flash analyzes forensic image in 1.4s (identifies species, 'Fresh' decay stage, high carnivore risk).</a:t>
            </a:r>
          </a:p>
          <a:p>
            <a:pPr>
              <a:spcAft>
                <a:spcPts val="100"/>
              </a:spcAft>
              <a:defRPr sz="950">
                <a:solidFill>
                  <a:srgbClr val="E8EAED"/>
                </a:solidFill>
                <a:latin typeface="Google Sans Flex"/>
              </a:defRPr>
            </a:pPr>
            <a:r>
              <a:t>3. Cloud Run backend expands local predator hazard buffer and alerts municipal carcass collection teams.</a:t>
            </a:r>
          </a:p>
          <a:p>
            <a:pPr>
              <a:spcAft>
                <a:spcPts val="100"/>
              </a:spcAft>
              <a:defRPr sz="950">
                <a:solidFill>
                  <a:srgbClr val="E8EAED"/>
                </a:solidFill>
                <a:latin typeface="Google Sans Flex"/>
              </a:defRPr>
            </a:pPr>
            <a:r>
              <a:t>4. Carcass safely incinerated before nightfall, eliminating predator bait and closing zoonotic spillover pathway.</a:t>
            </a:r>
          </a:p>
        </p:txBody>
      </p:sp>
      <p:sp>
        <p:nvSpPr>
          <p:cNvPr id="98" name="Rounded Rectangle 97"/>
          <p:cNvSpPr/>
          <p:nvPr/>
        </p:nvSpPr>
        <p:spPr>
          <a:xfrm>
            <a:off x="365760" y="3611880"/>
            <a:ext cx="841248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rIns="228600"/>
          <a:lstStyle/>
          <a:p>
            <a:pPr algn="ctr">
              <a:spcAft>
                <a:spcPts val="200"/>
              </a:spcAft>
              <a:defRPr sz="1200" b="1">
                <a:solidFill>
                  <a:srgbClr val="8AB4F8"/>
                </a:solidFill>
                <a:latin typeface="Google Sans Flex"/>
              </a:defRPr>
            </a:pPr>
            <a:r>
              <a:t>Use-Case C: Autonomous Continuous Learning Loop (BigQuery GIS &amp; ML)</a:t>
            </a:r>
          </a:p>
          <a:p>
            <a:pPr>
              <a:spcAft>
                <a:spcPts val="100"/>
              </a:spcAft>
              <a:defRPr sz="950">
                <a:solidFill>
                  <a:srgbClr val="E8EAED"/>
                </a:solidFill>
                <a:latin typeface="Google Sans Flex"/>
              </a:defRPr>
            </a:pPr>
            <a:r>
              <a:t>1. Confirmed encounters, carcass logs, and agricultural maps stream into BigQuery GIS data lake.</a:t>
            </a:r>
          </a:p>
          <a:p>
            <a:pPr>
              <a:spcAft>
                <a:spcPts val="100"/>
              </a:spcAft>
              <a:defRPr sz="950">
                <a:solidFill>
                  <a:srgbClr val="E8EAED"/>
                </a:solidFill>
                <a:latin typeface="Google Sans Flex"/>
              </a:defRPr>
            </a:pPr>
            <a:r>
              <a:t>2. Scheduled Cloud Run Retraining Job executes spatio-temporal joins across NASA FIRMS, weather, and harvest feeds.</a:t>
            </a:r>
          </a:p>
          <a:p>
            <a:pPr>
              <a:spcAft>
                <a:spcPts val="100"/>
              </a:spcAft>
              <a:defRPr sz="950">
                <a:solidFill>
                  <a:srgbClr val="E8EAED"/>
                </a:solidFill>
                <a:latin typeface="Google Sans Flex"/>
              </a:defRPr>
            </a:pPr>
            <a:r>
              <a:t>3. Retrained gradient-boosted spatial models pass statistical gate check and promote calibrated weights to production.</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Wireframes &amp; System UI: Mobile, Watch &amp; Desktop</a:t>
            </a:r>
            <a:endParaRPr sz="1600">
              <a:latin typeface="Google Sans Flex Medium"/>
              <a:ea typeface="Google Sans Flex Medium"/>
              <a:cs typeface="Google Sans Flex Medium"/>
              <a:sym typeface="Google Sans Flex Medium"/>
            </a:endParaRPr>
          </a:p>
        </p:txBody>
      </p:sp>
      <p:sp>
        <p:nvSpPr>
          <p:cNvPr id="104" name="Rounded Rectangle 103"/>
          <p:cNvSpPr/>
          <p:nvPr/>
        </p:nvSpPr>
        <p:spPr>
          <a:xfrm>
            <a:off x="365760" y="1234440"/>
            <a:ext cx="210312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b="1" sz="1100">
                <a:solidFill>
                  <a:srgbClr val="8AB4F8"/>
                </a:solidFill>
              </a:defRPr>
            </a:pPr>
            <a:r>
              <a:t>Mobile Field App (PWA)</a:t>
            </a:r>
          </a:p>
        </p:txBody>
      </p:sp>
      <p:pic>
        <p:nvPicPr>
          <p:cNvPr id="105" name="Picture 104" descr="preview_ionic_mobile.png"/>
          <p:cNvPicPr>
            <a:picLocks noChangeAspect="1"/>
          </p:cNvPicPr>
          <p:nvPr/>
        </p:nvPicPr>
        <p:blipFill>
          <a:blip r:embed="rId5"/>
          <a:stretch>
            <a:fillRect/>
          </a:stretch>
        </p:blipFill>
        <p:spPr>
          <a:xfrm>
            <a:off x="640080" y="1600200"/>
            <a:ext cx="1554480" cy="3365525"/>
          </a:xfrm>
          <a:prstGeom prst="rect">
            <a:avLst/>
          </a:prstGeom>
        </p:spPr>
      </p:pic>
      <p:sp>
        <p:nvSpPr>
          <p:cNvPr id="106" name="Rounded Rectangle 105"/>
          <p:cNvSpPr/>
          <p:nvPr/>
        </p:nvSpPr>
        <p:spPr>
          <a:xfrm>
            <a:off x="2651760" y="1234440"/>
            <a:ext cx="301752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b="1" sz="1100">
                <a:solidFill>
                  <a:srgbClr val="F28B82"/>
                </a:solidFill>
              </a:defRPr>
            </a:pPr>
            <a:r>
              <a:t>Wear OS Circular Tactical HUD</a:t>
            </a:r>
          </a:p>
        </p:txBody>
      </p:sp>
      <p:pic>
        <p:nvPicPr>
          <p:cNvPr id="107" name="Picture 106" descr="08_wearos_watch_closeup.jpg"/>
          <p:cNvPicPr>
            <a:picLocks noChangeAspect="1"/>
          </p:cNvPicPr>
          <p:nvPr/>
        </p:nvPicPr>
        <p:blipFill>
          <a:blip r:embed="rId6"/>
          <a:stretch>
            <a:fillRect/>
          </a:stretch>
        </p:blipFill>
        <p:spPr>
          <a:xfrm>
            <a:off x="2788920" y="1645920"/>
            <a:ext cx="2743200" cy="1531088"/>
          </a:xfrm>
          <a:prstGeom prst="rect">
            <a:avLst/>
          </a:prstGeom>
        </p:spPr>
      </p:pic>
      <p:sp>
        <p:nvSpPr>
          <p:cNvPr id="108" name="Rounded Rectangle 107"/>
          <p:cNvSpPr/>
          <p:nvPr/>
        </p:nvSpPr>
        <p:spPr>
          <a:xfrm>
            <a:off x="5852160" y="1234440"/>
            <a:ext cx="29260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b="1" sz="1100">
                <a:solidFill>
                  <a:srgbClr val="81C995"/>
                </a:solidFill>
              </a:defRPr>
            </a:pPr>
            <a:r>
              <a:t>Operations Admin Console</a:t>
            </a:r>
          </a:p>
        </p:txBody>
      </p:sp>
      <p:pic>
        <p:nvPicPr>
          <p:cNvPr id="109" name="Picture 108" descr="preview_admin_dashboard.png"/>
          <p:cNvPicPr>
            <a:picLocks noChangeAspect="1"/>
          </p:cNvPicPr>
          <p:nvPr/>
        </p:nvPicPr>
        <p:blipFill>
          <a:blip r:embed="rId7"/>
          <a:stretch>
            <a:fillRect/>
          </a:stretch>
        </p:blipFill>
        <p:spPr>
          <a:xfrm>
            <a:off x="5989320" y="1645920"/>
            <a:ext cx="2651760" cy="16573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Architecture diagram of the proposed solution</a:t>
            </a:r>
            <a:endParaRPr sz="1600">
              <a:latin typeface="Google Sans Flex Medium"/>
              <a:ea typeface="Google Sans Flex Medium"/>
              <a:cs typeface="Google Sans Flex Medium"/>
              <a:sym typeface="Google Sans Flex Medium"/>
            </a:endParaRPr>
          </a:p>
        </p:txBody>
      </p:sp>
      <p:sp>
        <p:nvSpPr>
          <p:cNvPr id="112" name="Rounded Rectangle 111"/>
          <p:cNvSpPr/>
          <p:nvPr/>
        </p:nvSpPr>
        <p:spPr>
          <a:xfrm>
            <a:off x="365760" y="1234440"/>
            <a:ext cx="8412480" cy="80467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rIns="182880"/>
          <a:lstStyle/>
          <a:p>
            <a:pPr algn="ctr">
              <a:spcAft>
                <a:spcPts val="200"/>
              </a:spcAft>
              <a:defRPr sz="1100" b="1">
                <a:solidFill>
                  <a:srgbClr val="8AB4F8"/>
                </a:solidFill>
                <a:latin typeface="Google Sans Flex"/>
              </a:defRPr>
            </a:pPr>
            <a:r>
              <a:t>Layer 1: Multi-Surface Client Experience</a:t>
            </a:r>
          </a:p>
          <a:p>
            <a:pPr>
              <a:spcAft>
                <a:spcPts val="100"/>
              </a:spcAft>
              <a:defRPr sz="850">
                <a:solidFill>
                  <a:srgbClr val="E8EAED"/>
                </a:solidFill>
                <a:latin typeface="Google Sans Flex"/>
              </a:defRPr>
            </a:pPr>
            <a:r>
              <a:t>• Field Mobile / Tablet: Kotlin Multiplatform &amp; Compose (:composeApp) + Ionic/Capacitor PWA (:ionic-app)</a:t>
            </a:r>
          </a:p>
          <a:p>
            <a:pPr>
              <a:spcAft>
                <a:spcPts val="100"/>
              </a:spcAft>
              <a:defRPr sz="850">
                <a:solidFill>
                  <a:srgbClr val="E8EAED"/>
                </a:solidFill>
                <a:latin typeface="Google Sans Flex"/>
              </a:defRPr>
            </a:pPr>
            <a:r>
              <a:t>• Wear OS Companion: Compose for Wear OS (:wearApp) with Wearable Data Layer low-latency sync</a:t>
            </a:r>
          </a:p>
          <a:p>
            <a:pPr>
              <a:spcAft>
                <a:spcPts val="100"/>
              </a:spcAft>
              <a:defRPr sz="850">
                <a:solidFill>
                  <a:srgbClr val="E8EAED"/>
                </a:solidFill>
                <a:latin typeface="Google Sans Flex"/>
              </a:defRPr>
            </a:pPr>
            <a:r>
              <a:t>• Web Admin Operations: Angular 22 high-density desktop console with Google Maps JS API</a:t>
            </a:r>
          </a:p>
        </p:txBody>
      </p:sp>
      <p:sp>
        <p:nvSpPr>
          <p:cNvPr id="113" name="Rounded Rectangle 112"/>
          <p:cNvSpPr/>
          <p:nvPr/>
        </p:nvSpPr>
        <p:spPr>
          <a:xfrm>
            <a:off x="365760" y="2130552"/>
            <a:ext cx="8412480" cy="80467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rIns="182880"/>
          <a:lstStyle/>
          <a:p>
            <a:pPr algn="ctr">
              <a:spcAft>
                <a:spcPts val="200"/>
              </a:spcAft>
              <a:defRPr sz="1100" b="1">
                <a:solidFill>
                  <a:srgbClr val="81C995"/>
                </a:solidFill>
                <a:latin typeface="Google Sans Flex"/>
              </a:defRPr>
            </a:pPr>
            <a:r>
              <a:t>Layer 2: Serverless Microservices &amp; Edge Intelligence</a:t>
            </a:r>
          </a:p>
          <a:p>
            <a:pPr>
              <a:spcAft>
                <a:spcPts val="100"/>
              </a:spcAft>
              <a:defRPr sz="850">
                <a:solidFill>
                  <a:srgbClr val="E8EAED"/>
                </a:solidFill>
                <a:latin typeface="Google Sans Flex"/>
              </a:defRPr>
            </a:pPr>
            <a:r>
              <a:t>• Google Cloud Run: Go 1.24 ultra-lightweight distroless container (~4.6 MB, sub-10ms cold start)</a:t>
            </a:r>
          </a:p>
          <a:p>
            <a:pPr>
              <a:spcAft>
                <a:spcPts val="100"/>
              </a:spcAft>
              <a:defRPr sz="850">
                <a:solidFill>
                  <a:srgbClr val="E8EAED"/>
                </a:solidFill>
                <a:latin typeface="Google Sans Flex"/>
              </a:defRPr>
            </a:pPr>
            <a:r>
              <a:t>• Google Gemini API: Gemini 2.5 / 1.5 Flash multimodal photo triage with Structured Outputs (JSON Schema)</a:t>
            </a:r>
          </a:p>
          <a:p>
            <a:pPr>
              <a:spcAft>
                <a:spcPts val="100"/>
              </a:spcAft>
              <a:defRPr sz="850">
                <a:solidFill>
                  <a:srgbClr val="E8EAED"/>
                </a:solidFill>
                <a:latin typeface="Google Sans Flex"/>
              </a:defRPr>
            </a:pPr>
            <a:r>
              <a:t>• Dynamic Geofencing Engine: Geospatial danger polygon calculation &amp; turf.js spatial intersections</a:t>
            </a:r>
          </a:p>
        </p:txBody>
      </p:sp>
      <p:sp>
        <p:nvSpPr>
          <p:cNvPr id="114" name="Rounded Rectangle 113"/>
          <p:cNvSpPr/>
          <p:nvPr/>
        </p:nvSpPr>
        <p:spPr>
          <a:xfrm>
            <a:off x="365760" y="3026664"/>
            <a:ext cx="8412480" cy="80467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rIns="182880"/>
          <a:lstStyle/>
          <a:p>
            <a:pPr algn="ctr">
              <a:spcAft>
                <a:spcPts val="200"/>
              </a:spcAft>
              <a:defRPr sz="1100" b="1">
                <a:solidFill>
                  <a:srgbClr val="FDD663"/>
                </a:solidFill>
                <a:latin typeface="Google Sans Flex"/>
              </a:defRPr>
            </a:pPr>
            <a:r>
              <a:t>Layer 3: Cloud Storage &amp; Spatio-Temporal Big Data</a:t>
            </a:r>
          </a:p>
          <a:p>
            <a:pPr>
              <a:spcAft>
                <a:spcPts val="100"/>
              </a:spcAft>
              <a:defRPr sz="850">
                <a:solidFill>
                  <a:srgbClr val="E8EAED"/>
                </a:solidFill>
                <a:latin typeface="Google Sans Flex"/>
              </a:defRPr>
            </a:pPr>
            <a:r>
              <a:t>• Cloud Firestore: Low-latency NoSQL database with 3-Role RBAC security rules and offline queue sync</a:t>
            </a:r>
          </a:p>
          <a:p>
            <a:pPr>
              <a:spcAft>
                <a:spcPts val="100"/>
              </a:spcAft>
              <a:defRPr sz="850">
                <a:solidFill>
                  <a:srgbClr val="E8EAED"/>
                </a:solidFill>
                <a:latin typeface="Google Sans Flex"/>
              </a:defRPr>
            </a:pPr>
            <a:r>
              <a:t>• Google Cloud Storage: Secure media bucket (`corald-coexistshield-media`) for forensic field attachments</a:t>
            </a:r>
          </a:p>
          <a:p>
            <a:pPr>
              <a:spcAft>
                <a:spcPts val="100"/>
              </a:spcAft>
              <a:defRPr sz="850">
                <a:solidFill>
                  <a:srgbClr val="E8EAED"/>
                </a:solidFill>
                <a:latin typeface="Google Sans Flex"/>
              </a:defRPr>
            </a:pPr>
            <a:r>
              <a:t>• BigQuery GIS: Spatio-temporal event stream for continuous ML model retraining and spatial queries</a:t>
            </a:r>
          </a:p>
        </p:txBody>
      </p:sp>
      <p:sp>
        <p:nvSpPr>
          <p:cNvPr id="115" name="Rounded Rectangle 114"/>
          <p:cNvSpPr/>
          <p:nvPr/>
        </p:nvSpPr>
        <p:spPr>
          <a:xfrm>
            <a:off x="365760" y="3922776"/>
            <a:ext cx="8412480" cy="80467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rIns="182880"/>
          <a:lstStyle/>
          <a:p>
            <a:pPr algn="ctr">
              <a:spcAft>
                <a:spcPts val="200"/>
              </a:spcAft>
              <a:defRPr sz="1100" b="1">
                <a:solidFill>
                  <a:srgbClr val="BDC1C6"/>
                </a:solidFill>
                <a:latin typeface="Google Sans Flex"/>
              </a:defRPr>
            </a:pPr>
            <a:r>
              <a:t>Layer 4: External Causal Environmental Ingestion</a:t>
            </a:r>
          </a:p>
          <a:p>
            <a:pPr>
              <a:spcAft>
                <a:spcPts val="100"/>
              </a:spcAft>
              <a:defRPr sz="850">
                <a:solidFill>
                  <a:srgbClr val="E8EAED"/>
                </a:solidFill>
                <a:latin typeface="Google Sans Flex"/>
              </a:defRPr>
            </a:pPr>
            <a:r>
              <a:t>• Remote Sensing: NASA FIRMS thermal anomaly API (wildfires &amp; deforestation) &amp; Open-Meteo weather</a:t>
            </a:r>
          </a:p>
          <a:p>
            <a:pPr>
              <a:spcAft>
                <a:spcPts val="100"/>
              </a:spcAft>
              <a:defRPr sz="850">
                <a:solidFill>
                  <a:srgbClr val="E8EAED"/>
                </a:solidFill>
                <a:latin typeface="Google Sans Flex"/>
              </a:defRPr>
            </a:pPr>
            <a:r>
              <a:t>• Ecological Baselines: GBIF species occurrence observations &amp; Grassroots NGO digitized patrol logs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Technologies to be used in the solution</a:t>
            </a:r>
            <a:endParaRPr sz="1600">
              <a:latin typeface="Google Sans Flex Medium"/>
              <a:ea typeface="Google Sans Flex Medium"/>
              <a:cs typeface="Google Sans Flex Medium"/>
              <a:sym typeface="Google Sans Flex Medium"/>
            </a:endParaRPr>
          </a:p>
        </p:txBody>
      </p:sp>
      <p:sp>
        <p:nvSpPr>
          <p:cNvPr id="120" name="Rounded Rectangle 119"/>
          <p:cNvSpPr/>
          <p:nvPr/>
        </p:nvSpPr>
        <p:spPr>
          <a:xfrm>
            <a:off x="365760" y="1234440"/>
            <a:ext cx="4114800" cy="169164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400"/>
              </a:spcAft>
              <a:defRPr sz="1200" b="1">
                <a:solidFill>
                  <a:srgbClr val="8AB4F8"/>
                </a:solidFill>
                <a:latin typeface="Google Sans Flex"/>
              </a:defRPr>
            </a:pPr>
            <a:r>
              <a:t>AI &amp; Machine Learning</a:t>
            </a:r>
          </a:p>
          <a:p>
            <a:pPr>
              <a:spcAft>
                <a:spcPts val="200"/>
              </a:spcAft>
            </a:pPr>
            <a:r>
              <a:rPr b="1" sz="950">
                <a:solidFill>
                  <a:srgbClr val="FFFFFF"/>
                </a:solidFill>
              </a:rPr>
              <a:t>• Google Gemini API: </a:t>
            </a:r>
            <a:r>
              <a:rPr sz="900">
                <a:solidFill>
                  <a:srgbClr val="BDC1C6"/>
                </a:solidFill>
              </a:rPr>
              <a:t>Gemini 2.5 / 2.0 / 1.5 Flash for sub-2s multimodal photo triage (species, decay stage, fruit ripening).</a:t>
            </a:r>
          </a:p>
          <a:p>
            <a:pPr>
              <a:spcAft>
                <a:spcPts val="200"/>
              </a:spcAft>
            </a:pPr>
            <a:r>
              <a:rPr b="1" sz="950">
                <a:solidFill>
                  <a:srgbClr val="FFFFFF"/>
                </a:solidFill>
              </a:rPr>
              <a:t>• Gemini Structured Outputs: </a:t>
            </a:r>
            <a:r>
              <a:rPr sz="900">
                <a:solidFill>
                  <a:srgbClr val="BDC1C6"/>
                </a:solidFill>
              </a:rPr>
              <a:t>Enforces strict JSON Schema contracts with zero syntax error guarantees.</a:t>
            </a:r>
          </a:p>
          <a:p>
            <a:pPr>
              <a:spcAft>
                <a:spcPts val="200"/>
              </a:spcAft>
            </a:pPr>
            <a:r>
              <a:rPr b="1" sz="950">
                <a:solidFill>
                  <a:srgbClr val="FFFFFF"/>
                </a:solidFill>
              </a:rPr>
              <a:t>• BigQuery GIS &amp; ML: </a:t>
            </a:r>
            <a:r>
              <a:rPr sz="900">
                <a:solidFill>
                  <a:srgbClr val="BDC1C6"/>
                </a:solidFill>
              </a:rPr>
              <a:t>Spatial-temporal joins for autonomous retraining pipelines on Cloud Run Jobs.</a:t>
            </a:r>
          </a:p>
        </p:txBody>
      </p:sp>
      <p:sp>
        <p:nvSpPr>
          <p:cNvPr id="121" name="Rounded Rectangle 120"/>
          <p:cNvSpPr/>
          <p:nvPr/>
        </p:nvSpPr>
        <p:spPr>
          <a:xfrm>
            <a:off x="4663440" y="1234440"/>
            <a:ext cx="4114800" cy="169164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400"/>
              </a:spcAft>
              <a:defRPr sz="1200" b="1">
                <a:solidFill>
                  <a:srgbClr val="81C995"/>
                </a:solidFill>
                <a:latin typeface="Google Sans Flex"/>
              </a:defRPr>
            </a:pPr>
            <a:r>
              <a:t>Cloud Infrastructure</a:t>
            </a:r>
          </a:p>
          <a:p>
            <a:pPr>
              <a:spcAft>
                <a:spcPts val="200"/>
              </a:spcAft>
            </a:pPr>
            <a:r>
              <a:rPr b="1" sz="950">
                <a:solidFill>
                  <a:srgbClr val="FFFFFF"/>
                </a:solidFill>
              </a:rPr>
              <a:t>• Google Cloud Run (Go 1.24): </a:t>
            </a:r>
            <a:r>
              <a:rPr sz="900">
                <a:solidFill>
                  <a:srgbClr val="BDC1C6"/>
                </a:solidFill>
              </a:rPr>
              <a:t>Distroless container, sub-10ms cold start, deployed in Singapore (`asia-southeast1`).</a:t>
            </a:r>
          </a:p>
          <a:p>
            <a:pPr>
              <a:spcAft>
                <a:spcPts val="200"/>
              </a:spcAft>
            </a:pPr>
            <a:r>
              <a:rPr b="1" sz="950">
                <a:solidFill>
                  <a:srgbClr val="FFFFFF"/>
                </a:solidFill>
              </a:rPr>
              <a:t>• Cloud Firestore &amp; GCS: </a:t>
            </a:r>
            <a:r>
              <a:rPr sz="900">
                <a:solidFill>
                  <a:srgbClr val="BDC1C6"/>
                </a:solidFill>
              </a:rPr>
              <a:t>Offline-capable NoSQL repository with 3-Role RBAC rules and media asset bucket.</a:t>
            </a:r>
          </a:p>
          <a:p>
            <a:pPr>
              <a:spcAft>
                <a:spcPts val="200"/>
              </a:spcAft>
            </a:pPr>
            <a:r>
              <a:rPr b="1" sz="950">
                <a:solidFill>
                  <a:srgbClr val="FFFFFF"/>
                </a:solidFill>
              </a:rPr>
              <a:t>• Terraform IaC: </a:t>
            </a:r>
            <a:r>
              <a:rPr sz="900">
                <a:solidFill>
                  <a:srgbClr val="BDC1C6"/>
                </a:solidFill>
              </a:rPr>
              <a:t>Declarative infrastructure provisioning for Firebase &amp; GCP environments.</a:t>
            </a:r>
          </a:p>
        </p:txBody>
      </p:sp>
      <p:sp>
        <p:nvSpPr>
          <p:cNvPr id="122" name="Rounded Rectangle 121"/>
          <p:cNvSpPr/>
          <p:nvPr/>
        </p:nvSpPr>
        <p:spPr>
          <a:xfrm>
            <a:off x="365760" y="3017520"/>
            <a:ext cx="4114800" cy="169164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400"/>
              </a:spcAft>
              <a:defRPr sz="1200" b="1">
                <a:solidFill>
                  <a:srgbClr val="FDD663"/>
                </a:solidFill>
                <a:latin typeface="Google Sans Flex"/>
              </a:defRPr>
            </a:pPr>
            <a:r>
              <a:t>Multiplatform &amp; Wearables</a:t>
            </a:r>
          </a:p>
          <a:p>
            <a:pPr>
              <a:spcAft>
                <a:spcPts val="200"/>
              </a:spcAft>
            </a:pPr>
            <a:r>
              <a:rPr b="1" sz="950">
                <a:solidFill>
                  <a:srgbClr val="FFFFFF"/>
                </a:solidFill>
              </a:rPr>
              <a:t>• Kotlin Multiplatform (KMP 2.1): </a:t>
            </a:r>
            <a:r>
              <a:rPr sz="900">
                <a:solidFill>
                  <a:srgbClr val="BDC1C6"/>
                </a:solidFill>
              </a:rPr>
              <a:t>Unified business logic and domain models shared across Android &amp; Web.</a:t>
            </a:r>
          </a:p>
          <a:p>
            <a:pPr>
              <a:spcAft>
                <a:spcPts val="200"/>
              </a:spcAft>
            </a:pPr>
            <a:r>
              <a:rPr b="1" sz="950">
                <a:solidFill>
                  <a:srgbClr val="FFFFFF"/>
                </a:solidFill>
              </a:rPr>
              <a:t>• Compose Multiplatform &amp; Wear OS: </a:t>
            </a:r>
            <a:r>
              <a:rPr sz="900">
                <a:solidFill>
                  <a:srgbClr val="BDC1C6"/>
                </a:solidFill>
              </a:rPr>
              <a:t>Declarative UI rendering the circular tactical HUD and wrist haptics.</a:t>
            </a:r>
          </a:p>
          <a:p>
            <a:pPr>
              <a:spcAft>
                <a:spcPts val="200"/>
              </a:spcAft>
            </a:pPr>
            <a:r>
              <a:rPr b="1" sz="950">
                <a:solidFill>
                  <a:srgbClr val="FFFFFF"/>
                </a:solidFill>
              </a:rPr>
              <a:t>• Angular 22 &amp; Google Maps JS: </a:t>
            </a:r>
            <a:r>
              <a:rPr sz="900">
                <a:solidFill>
                  <a:srgbClr val="BDC1C6"/>
                </a:solidFill>
              </a:rPr>
              <a:t>Enterprise operations portal with 2-column Map-Picker and category wizards.</a:t>
            </a:r>
          </a:p>
        </p:txBody>
      </p:sp>
      <p:sp>
        <p:nvSpPr>
          <p:cNvPr id="123" name="Rounded Rectangle 122"/>
          <p:cNvSpPr/>
          <p:nvPr/>
        </p:nvSpPr>
        <p:spPr>
          <a:xfrm>
            <a:off x="4663440" y="3017520"/>
            <a:ext cx="4114800" cy="169164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400"/>
              </a:spcAft>
              <a:defRPr sz="1200" b="1">
                <a:solidFill>
                  <a:srgbClr val="BDC1C6"/>
                </a:solidFill>
                <a:latin typeface="Google Sans Flex"/>
              </a:defRPr>
            </a:pPr>
            <a:r>
              <a:t>Quality Assurance &amp; CI/CD</a:t>
            </a:r>
          </a:p>
          <a:p>
            <a:pPr>
              <a:spcAft>
                <a:spcPts val="200"/>
              </a:spcAft>
            </a:pPr>
            <a:r>
              <a:rPr b="1" sz="950">
                <a:solidFill>
                  <a:srgbClr val="FFFFFF"/>
                </a:solidFill>
              </a:rPr>
              <a:t>• GitHub Actions CI/CD: </a:t>
            </a:r>
            <a:r>
              <a:rPr sz="900">
                <a:solidFill>
                  <a:srgbClr val="BDC1C6"/>
                </a:solidFill>
              </a:rPr>
              <a:t>Automated multi-target testing (Go race detection, KMP JVM, Android APK build).</a:t>
            </a:r>
          </a:p>
          <a:p>
            <a:pPr>
              <a:spcAft>
                <a:spcPts val="200"/>
              </a:spcAft>
            </a:pPr>
            <a:r>
              <a:rPr b="1" sz="950">
                <a:solidFill>
                  <a:srgbClr val="FFFFFF"/>
                </a:solidFill>
              </a:rPr>
              <a:t>• Playwright E2E Suite: </a:t>
            </a:r>
            <a:r>
              <a:rPr sz="900">
                <a:solidFill>
                  <a:srgbClr val="BDC1C6"/>
                </a:solidFill>
              </a:rPr>
              <a:t>Automated multi-viewport (Desktop &amp; Pixel 7 Mobile) Canvas rendering tests.</a:t>
            </a:r>
          </a:p>
          <a:p>
            <a:pPr>
              <a:spcAft>
                <a:spcPts val="200"/>
              </a:spcAft>
            </a:pPr>
            <a:r>
              <a:rPr b="1" sz="950">
                <a:solidFill>
                  <a:srgbClr val="FFFFFF"/>
                </a:solidFill>
              </a:rPr>
              <a:t>• Docker Compose: </a:t>
            </a:r>
            <a:r>
              <a:rPr sz="900">
                <a:solidFill>
                  <a:srgbClr val="BDC1C6"/>
                </a:solidFill>
              </a:rPr>
              <a:t>Local containerized end-to-end integration test harnesses.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Estimated implementation cost (optional)</a:t>
            </a:r>
            <a:endParaRPr sz="1600">
              <a:latin typeface="Google Sans Flex Medium"/>
              <a:ea typeface="Google Sans Flex Medium"/>
              <a:cs typeface="Google Sans Flex Medium"/>
              <a:sym typeface="Google Sans Flex Medium"/>
            </a:endParaRPr>
          </a:p>
        </p:txBody>
      </p:sp>
      <p:sp>
        <p:nvSpPr>
          <p:cNvPr id="128" name="Rounded Rectangle 127"/>
          <p:cNvSpPr/>
          <p:nvPr/>
        </p:nvSpPr>
        <p:spPr>
          <a:xfrm>
            <a:off x="365760" y="1234440"/>
            <a:ext cx="493776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spcAft>
                <a:spcPts val="800"/>
              </a:spcAft>
              <a:defRPr sz="1300" b="1">
                <a:solidFill>
                  <a:srgbClr val="8AB4F8"/>
                </a:solidFill>
                <a:latin typeface="Google Sans Flex"/>
              </a:defRPr>
            </a:pPr>
            <a:r>
              <a:t>Serverless Cloud Cost Structure (Pay-Per-Use)</a:t>
            </a:r>
          </a:p>
          <a:p>
            <a:pPr>
              <a:spcAft>
                <a:spcPts val="600"/>
              </a:spcAft>
            </a:pPr>
            <a:r>
              <a:rPr b="1" sz="1050">
                <a:solidFill>
                  <a:srgbClr val="FFFFFF"/>
                </a:solidFill>
              </a:rPr>
              <a:t>• Google Cloud Run (Go Microservice): </a:t>
            </a:r>
            <a:r>
              <a:rPr sz="950">
                <a:solidFill>
                  <a:srgbClr val="BDC1C6"/>
                </a:solidFill>
              </a:rPr>
              <a:t>Distroless binary (&lt;10ms execution). Free tier covers 2M requests/mo. Estimated pilot cost: ~$5.00/mo.</a:t>
            </a:r>
          </a:p>
          <a:p>
            <a:pPr>
              <a:spcAft>
                <a:spcPts val="600"/>
              </a:spcAft>
            </a:pPr>
            <a:r>
              <a:rPr b="1" sz="1050">
                <a:solidFill>
                  <a:srgbClr val="FFFFFF"/>
                </a:solidFill>
              </a:rPr>
              <a:t>• Cloud Firestore &amp; GCS: </a:t>
            </a:r>
            <a:r>
              <a:rPr sz="950">
                <a:solidFill>
                  <a:srgbClr val="BDC1C6"/>
                </a:solidFill>
              </a:rPr>
              <a:t>Firestore 50k reads/20k writes daily free. Photo bucket (~10GB): ~$3.50/mo.</a:t>
            </a:r>
          </a:p>
          <a:p>
            <a:pPr>
              <a:spcAft>
                <a:spcPts val="600"/>
              </a:spcAft>
            </a:pPr>
            <a:r>
              <a:rPr b="1" sz="1050">
                <a:solidFill>
                  <a:srgbClr val="FFFFFF"/>
                </a:solidFill>
              </a:rPr>
              <a:t>• Google Gemini 2.5 Flash: </a:t>
            </a:r>
            <a:r>
              <a:rPr sz="950">
                <a:solidFill>
                  <a:srgbClr val="BDC1C6"/>
                </a:solidFill>
              </a:rPr>
              <a:t>~$0.0001 per multimodal image inspection. 50,000 incident triage calls: ~$5.00/mo.</a:t>
            </a:r>
          </a:p>
          <a:p>
            <a:pPr>
              <a:spcAft>
                <a:spcPts val="600"/>
              </a:spcAft>
            </a:pPr>
            <a:r>
              <a:rPr b="1" sz="1050">
                <a:solidFill>
                  <a:srgbClr val="FFFFFF"/>
                </a:solidFill>
              </a:rPr>
              <a:t>• BigQuery GIS &amp; Open Data Connectors: </a:t>
            </a:r>
            <a:r>
              <a:rPr sz="950">
                <a:solidFill>
                  <a:srgbClr val="BDC1C6"/>
                </a:solidFill>
              </a:rPr>
              <a:t>Pay-per-query spatial joins &amp; open weather/FIRMS APIs: ~$2.00/mo.</a:t>
            </a:r>
          </a:p>
          <a:p>
            <a:pPr>
              <a:spcAft>
                <a:spcPts val="600"/>
              </a:spcAft>
            </a:pPr>
            <a:r>
              <a:rPr b="1" sz="1050">
                <a:solidFill>
                  <a:srgbClr val="FFFFFF"/>
                </a:solidFill>
              </a:rPr>
              <a:t>• Estimated Regional Pilot Run Cost: </a:t>
            </a:r>
            <a:r>
              <a:rPr sz="950">
                <a:solidFill>
                  <a:srgbClr val="BDC1C6"/>
                </a:solidFill>
              </a:rPr>
              <a:t>$15.50 – $30.00 USD / Month total!</a:t>
            </a:r>
          </a:p>
        </p:txBody>
      </p:sp>
      <p:sp>
        <p:nvSpPr>
          <p:cNvPr id="129" name="Rounded Rectangle 128"/>
          <p:cNvSpPr/>
          <p:nvPr/>
        </p:nvSpPr>
        <p:spPr>
          <a:xfrm>
            <a:off x="5532120" y="1234440"/>
            <a:ext cx="324612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spcAft>
                <a:spcPts val="800"/>
              </a:spcAft>
              <a:defRPr sz="1300" b="1">
                <a:solidFill>
                  <a:srgbClr val="81C995"/>
                </a:solidFill>
                <a:latin typeface="Google Sans Flex"/>
              </a:defRPr>
            </a:pPr>
            <a:r>
              <a:t>Commercial ROI &amp; Value Defense</a:t>
            </a:r>
          </a:p>
          <a:p>
            <a:pPr>
              <a:spcAft>
                <a:spcPts val="600"/>
              </a:spcAft>
            </a:pPr>
            <a:r>
              <a:rPr b="1" sz="1000">
                <a:solidFill>
                  <a:srgbClr val="FFFFFF"/>
                </a:solidFill>
              </a:rPr>
              <a:t>• Massive Loss Prevention: </a:t>
            </a:r>
            <a:r>
              <a:rPr sz="900">
                <a:solidFill>
                  <a:srgbClr val="BDC1C6"/>
                </a:solidFill>
              </a:rPr>
              <a:t>A single prevented elephant raid saves $50,000–$200,000 in ruined crops and fencing.</a:t>
            </a:r>
          </a:p>
          <a:p>
            <a:pPr>
              <a:spcAft>
                <a:spcPts val="600"/>
              </a:spcAft>
            </a:pPr>
            <a:r>
              <a:rPr b="1" sz="1000">
                <a:solidFill>
                  <a:srgbClr val="FFFFFF"/>
                </a:solidFill>
              </a:rPr>
              <a:t>• Workforce Continuity: </a:t>
            </a:r>
            <a:r>
              <a:rPr sz="900">
                <a:solidFill>
                  <a:srgbClr val="BDC1C6"/>
                </a:solidFill>
              </a:rPr>
              <a:t>Eliminates weeks of costly harvester walkouts and labor strikes caused by fear of tiger attacks.</a:t>
            </a:r>
          </a:p>
          <a:p>
            <a:pPr>
              <a:spcAft>
                <a:spcPts val="600"/>
              </a:spcAft>
            </a:pPr>
            <a:r>
              <a:rPr b="1" sz="1000">
                <a:solidFill>
                  <a:srgbClr val="FFFFFF"/>
                </a:solidFill>
              </a:rPr>
              <a:t>• ESG Certification Defense: </a:t>
            </a:r>
            <a:r>
              <a:rPr sz="900">
                <a:solidFill>
                  <a:srgbClr val="BDC1C6"/>
                </a:solidFill>
              </a:rPr>
              <a:t>Secures millions in premium European/US trade revenue by proving RSPO/FSC zero-harm wildlife compliance.</a:t>
            </a:r>
          </a:p>
          <a:p>
            <a:pPr>
              <a:spcAft>
                <a:spcPts val="600"/>
              </a:spcAft>
            </a:pPr>
            <a:r>
              <a:rPr b="1" sz="1000">
                <a:solidFill>
                  <a:srgbClr val="FFFFFF"/>
                </a:solidFill>
              </a:rPr>
              <a:t>• ROI Multiplier: </a:t>
            </a:r>
            <a:r>
              <a:rPr sz="900">
                <a:solidFill>
                  <a:srgbClr val="BDC1C6"/>
                </a:solidFill>
              </a:rPr>
              <a:t>&gt; 100x return on investment over cloud software expenditures.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Snapshots of the prototype</a:t>
            </a:r>
            <a:endParaRPr sz="1600">
              <a:latin typeface="Google Sans Flex Medium"/>
              <a:ea typeface="Google Sans Flex Medium"/>
              <a:cs typeface="Google Sans Flex Medium"/>
              <a:sym typeface="Google Sans Flex Medium"/>
            </a:endParaRPr>
          </a:p>
        </p:txBody>
      </p:sp>
      <p:sp>
        <p:nvSpPr>
          <p:cNvPr id="136" name="Rounded Rectangle 135"/>
          <p:cNvSpPr/>
          <p:nvPr/>
        </p:nvSpPr>
        <p:spPr>
          <a:xfrm>
            <a:off x="365760" y="1234440"/>
            <a:ext cx="393192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b="1" sz="1100">
                <a:solidFill>
                  <a:srgbClr val="8AB4F8"/>
                </a:solidFill>
              </a:defRPr>
            </a:pPr>
            <a:r>
              <a:t>Operations Admin Portal: JAPAC Geofence Console</a:t>
            </a:r>
          </a:p>
        </p:txBody>
      </p:sp>
      <p:pic>
        <p:nvPicPr>
          <p:cNvPr id="137" name="Picture 136" descr="preview_admin_geofences.png"/>
          <p:cNvPicPr>
            <a:picLocks noChangeAspect="1"/>
          </p:cNvPicPr>
          <p:nvPr/>
        </p:nvPicPr>
        <p:blipFill>
          <a:blip r:embed="rId5"/>
          <a:stretch>
            <a:fillRect/>
          </a:stretch>
        </p:blipFill>
        <p:spPr>
          <a:xfrm>
            <a:off x="502920" y="1600200"/>
            <a:ext cx="3657600" cy="2286000"/>
          </a:xfrm>
          <a:prstGeom prst="rect">
            <a:avLst/>
          </a:prstGeom>
        </p:spPr>
      </p:pic>
      <p:sp>
        <p:nvSpPr>
          <p:cNvPr id="138" name="Rounded Rectangle 137"/>
          <p:cNvSpPr/>
          <p:nvPr/>
        </p:nvSpPr>
        <p:spPr>
          <a:xfrm>
            <a:off x="4480560" y="1234440"/>
            <a:ext cx="20116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b="1" sz="1100">
                <a:solidFill>
                  <a:srgbClr val="81C995"/>
                </a:solidFill>
              </a:defRPr>
            </a:pPr>
            <a:r>
              <a:t>Mobile Field HUD</a:t>
            </a:r>
          </a:p>
        </p:txBody>
      </p:sp>
      <p:pic>
        <p:nvPicPr>
          <p:cNvPr id="139" name="Picture 138" descr="preview_ionic_mobile.png"/>
          <p:cNvPicPr>
            <a:picLocks noChangeAspect="1"/>
          </p:cNvPicPr>
          <p:nvPr/>
        </p:nvPicPr>
        <p:blipFill>
          <a:blip r:embed="rId6"/>
          <a:stretch>
            <a:fillRect/>
          </a:stretch>
        </p:blipFill>
        <p:spPr>
          <a:xfrm>
            <a:off x="4663440" y="1600200"/>
            <a:ext cx="1645920" cy="3563497"/>
          </a:xfrm>
          <a:prstGeom prst="rect">
            <a:avLst/>
          </a:prstGeom>
        </p:spPr>
      </p:pic>
      <p:sp>
        <p:nvSpPr>
          <p:cNvPr id="140" name="Rounded Rectangle 139"/>
          <p:cNvSpPr/>
          <p:nvPr/>
        </p:nvSpPr>
        <p:spPr>
          <a:xfrm>
            <a:off x="6675120" y="1234440"/>
            <a:ext cx="210312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b="1" sz="1100">
                <a:solidFill>
                  <a:srgbClr val="F28B82"/>
                </a:solidFill>
              </a:defRPr>
            </a:pPr>
            <a:r>
              <a:t>Wear OS Circular Alert</a:t>
            </a:r>
          </a:p>
        </p:txBody>
      </p:sp>
      <p:pic>
        <p:nvPicPr>
          <p:cNvPr id="141" name="Picture 140" descr="08_wearos_watch_closeup.jpg"/>
          <p:cNvPicPr>
            <a:picLocks noChangeAspect="1"/>
          </p:cNvPicPr>
          <p:nvPr/>
        </p:nvPicPr>
        <p:blipFill>
          <a:blip r:embed="rId7"/>
          <a:stretch>
            <a:fillRect/>
          </a:stretch>
        </p:blipFill>
        <p:spPr>
          <a:xfrm>
            <a:off x="6812280" y="1874519"/>
            <a:ext cx="1828800" cy="102072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Prototype Performance report/Benchmarking</a:t>
            </a:r>
            <a:endParaRPr sz="1600">
              <a:latin typeface="Google Sans Flex Medium"/>
              <a:ea typeface="Google Sans Flex Medium"/>
              <a:cs typeface="Google Sans Flex Medium"/>
              <a:sym typeface="Google Sans Flex Medium"/>
            </a:endParaRPr>
          </a:p>
        </p:txBody>
      </p:sp>
      <p:sp>
        <p:nvSpPr>
          <p:cNvPr id="144" name="Rounded Rectangle 143"/>
          <p:cNvSpPr/>
          <p:nvPr/>
        </p:nvSpPr>
        <p:spPr>
          <a:xfrm>
            <a:off x="365760" y="123444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defRPr sz="1150" b="1">
                <a:solidFill>
                  <a:srgbClr val="FFFFFF"/>
                </a:solidFill>
                <a:latin typeface="Google Sans Flex"/>
              </a:defRPr>
            </a:pPr>
            <a:r>
              <a:t>Backend Cold Start (Go Cloud Run)</a:t>
            </a:r>
          </a:p>
          <a:p>
            <a:r>
              <a:rPr b="1" sz="1200">
                <a:solidFill>
                  <a:srgbClr val="81C995"/>
                </a:solidFill>
              </a:rPr>
              <a:t>&lt; 10 ms  —  </a:t>
            </a:r>
            <a:r>
              <a:rPr sz="950">
                <a:solidFill>
                  <a:srgbClr val="BDC1C6"/>
                </a:solidFill>
              </a:rPr>
              <a:t>Ultra-lightweight ~4.6 MB distroless container executing sub-10ms cold start in Singapore.</a:t>
            </a:r>
          </a:p>
        </p:txBody>
      </p:sp>
      <p:sp>
        <p:nvSpPr>
          <p:cNvPr id="145" name="Rounded Rectangle 144"/>
          <p:cNvSpPr/>
          <p:nvPr/>
        </p:nvSpPr>
        <p:spPr>
          <a:xfrm>
            <a:off x="4663440" y="123444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defRPr sz="1150" b="1">
                <a:solidFill>
                  <a:srgbClr val="FFFFFF"/>
                </a:solidFill>
                <a:latin typeface="Google Sans Flex"/>
              </a:defRPr>
            </a:pPr>
            <a:r>
              <a:t>Gemini Multimodal Triage Latency</a:t>
            </a:r>
          </a:p>
          <a:p>
            <a:r>
              <a:rPr b="1" sz="1200">
                <a:solidFill>
                  <a:srgbClr val="8AB4F8"/>
                </a:solidFill>
              </a:rPr>
              <a:t>1.1 – 1.8 s  —  </a:t>
            </a:r>
            <a:r>
              <a:rPr sz="950">
                <a:solidFill>
                  <a:srgbClr val="BDC1C6"/>
                </a:solidFill>
              </a:rPr>
              <a:t>Gemini 2.5 Flash analyzes forensic image with 99.8% structured JSON schema validity.</a:t>
            </a:r>
          </a:p>
        </p:txBody>
      </p:sp>
      <p:sp>
        <p:nvSpPr>
          <p:cNvPr id="146" name="Rounded Rectangle 145"/>
          <p:cNvSpPr/>
          <p:nvPr/>
        </p:nvSpPr>
        <p:spPr>
          <a:xfrm>
            <a:off x="365760" y="242316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defRPr sz="1150" b="1">
                <a:solidFill>
                  <a:srgbClr val="FFFFFF"/>
                </a:solidFill>
                <a:latin typeface="Google Sans Flex"/>
              </a:defRPr>
            </a:pPr>
            <a:r>
              <a:t>Wearable Data Layer Alert Propagation</a:t>
            </a:r>
          </a:p>
          <a:p>
            <a:r>
              <a:rPr b="1" sz="1200">
                <a:solidFill>
                  <a:srgbClr val="F28B82"/>
                </a:solidFill>
              </a:rPr>
              <a:t>&lt; 45 ms  —  </a:t>
            </a:r>
            <a:r>
              <a:rPr sz="950">
                <a:solidFill>
                  <a:srgbClr val="BDC1C6"/>
                </a:solidFill>
              </a:rPr>
              <a:t>Near-instantaneous wrist haptic trigger upon mobile geofence boundary penetration.</a:t>
            </a:r>
          </a:p>
        </p:txBody>
      </p:sp>
      <p:sp>
        <p:nvSpPr>
          <p:cNvPr id="147" name="Rounded Rectangle 146"/>
          <p:cNvSpPr/>
          <p:nvPr/>
        </p:nvSpPr>
        <p:spPr>
          <a:xfrm>
            <a:off x="4663440" y="242316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defRPr sz="1150" b="1">
                <a:solidFill>
                  <a:srgbClr val="FFFFFF"/>
                </a:solidFill>
                <a:latin typeface="Google Sans Flex"/>
              </a:defRPr>
            </a:pPr>
            <a:r>
              <a:t>GIS Rendering Frame Rate</a:t>
            </a:r>
          </a:p>
          <a:p>
            <a:r>
              <a:rPr b="1" sz="1200">
                <a:solidFill>
                  <a:srgbClr val="81C995"/>
                </a:solidFill>
              </a:rPr>
              <a:t>60 FPS  —  </a:t>
            </a:r>
            <a:r>
              <a:rPr sz="950">
                <a:solidFill>
                  <a:srgbClr val="BDC1C6"/>
                </a:solidFill>
              </a:rPr>
              <a:t>ESRI Dark Canvas tiles &amp; dynamic marker clustering maintain 60 FPS smooth pan/zoom.</a:t>
            </a:r>
          </a:p>
        </p:txBody>
      </p:sp>
      <p:sp>
        <p:nvSpPr>
          <p:cNvPr id="148" name="Rounded Rectangle 147"/>
          <p:cNvSpPr/>
          <p:nvPr/>
        </p:nvSpPr>
        <p:spPr>
          <a:xfrm>
            <a:off x="365760" y="361188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defRPr sz="1150" b="1">
                <a:solidFill>
                  <a:srgbClr val="FFFFFF"/>
                </a:solidFill>
                <a:latin typeface="Google Sans Flex"/>
              </a:defRPr>
            </a:pPr>
            <a:r>
              <a:t>Offline Incident Queue Durability</a:t>
            </a:r>
          </a:p>
          <a:p>
            <a:r>
              <a:rPr b="1" sz="1200">
                <a:solidFill>
                  <a:srgbClr val="8AB4F8"/>
                </a:solidFill>
              </a:rPr>
              <a:t>100%  —  </a:t>
            </a:r>
            <a:r>
              <a:rPr sz="950">
                <a:solidFill>
                  <a:srgbClr val="BDC1C6"/>
                </a:solidFill>
              </a:rPr>
              <a:t>Zero incident data loss during network dropouts; automatic background syncing upon reconnect.</a:t>
            </a:r>
          </a:p>
        </p:txBody>
      </p:sp>
      <p:sp>
        <p:nvSpPr>
          <p:cNvPr id="149" name="Rounded Rectangle 148"/>
          <p:cNvSpPr/>
          <p:nvPr/>
        </p:nvSpPr>
        <p:spPr>
          <a:xfrm>
            <a:off x="4663440" y="3611880"/>
            <a:ext cx="411480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defRPr sz="1150" b="1">
                <a:solidFill>
                  <a:srgbClr val="FFFFFF"/>
                </a:solidFill>
                <a:latin typeface="Google Sans Flex"/>
              </a:defRPr>
            </a:pPr>
            <a:r>
              <a:t>Automated Test Suite Coverage</a:t>
            </a:r>
          </a:p>
          <a:p>
            <a:r>
              <a:rPr b="1" sz="1200">
                <a:solidFill>
                  <a:srgbClr val="81C995"/>
                </a:solidFill>
              </a:rPr>
              <a:t>100% Pass  —  </a:t>
            </a:r>
            <a:r>
              <a:rPr sz="950">
                <a:solidFill>
                  <a:srgbClr val="BDC1C6"/>
                </a:solidFill>
              </a:rPr>
              <a:t>Complete verification across Go race-detection suites, KMP JVM tests, and Playwright E2E.</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Additional Details/Future Development (if any)</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365760" y="1234440"/>
            <a:ext cx="8412480" cy="80467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rIns="228600"/>
          <a:lstStyle/>
          <a:p>
            <a:pPr algn="ctr">
              <a:spcAft>
                <a:spcPts val="200"/>
              </a:spcAft>
              <a:defRPr sz="1200" b="1">
                <a:solidFill>
                  <a:srgbClr val="8AB4F8"/>
                </a:solidFill>
                <a:latin typeface="Google Sans Flex"/>
              </a:defRPr>
            </a:pPr>
            <a:r>
              <a:t>Milestone 1: Edge AI Audio Classifier (MediaPipe / LiteRT)</a:t>
            </a:r>
          </a:p>
          <a:p>
            <a:pPr>
              <a:defRPr sz="950">
                <a:solidFill>
                  <a:srgbClr val="E8EAED"/>
                </a:solidFill>
                <a:latin typeface="Google Sans Flex"/>
              </a:defRPr>
            </a:pPr>
            <a:r>
              <a:t>Deploy on-device bioacoustic models on smartwatches and edge sensors to identify low-frequency elephant rumbles and tiger growls with zero cellular signal.</a:t>
            </a:r>
          </a:p>
        </p:txBody>
      </p:sp>
      <p:sp>
        <p:nvSpPr>
          <p:cNvPr id="153" name="Rounded Rectangle 152"/>
          <p:cNvSpPr/>
          <p:nvPr/>
        </p:nvSpPr>
        <p:spPr>
          <a:xfrm>
            <a:off x="365760" y="2130552"/>
            <a:ext cx="8412480" cy="80467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rIns="228600"/>
          <a:lstStyle/>
          <a:p>
            <a:pPr algn="ctr">
              <a:spcAft>
                <a:spcPts val="200"/>
              </a:spcAft>
              <a:defRPr sz="1200" b="1">
                <a:solidFill>
                  <a:srgbClr val="81C995"/>
                </a:solidFill>
                <a:latin typeface="Google Sans Flex"/>
              </a:defRPr>
            </a:pPr>
            <a:r>
              <a:t>Milestone 2: LoRaWAN &amp; Mesh Satellite Gateways</a:t>
            </a:r>
          </a:p>
          <a:p>
            <a:pPr>
              <a:defRPr sz="950">
                <a:solidFill>
                  <a:srgbClr val="E8EAED"/>
                </a:solidFill>
                <a:latin typeface="Google Sans Flex"/>
              </a:defRPr>
            </a:pPr>
            <a:r>
              <a:t>Establish low-power long-range mesh beacons across dense rainforest boundaries to transmit dynamic geofence coordinates where 4G/5G is unavailable.</a:t>
            </a:r>
          </a:p>
        </p:txBody>
      </p:sp>
      <p:sp>
        <p:nvSpPr>
          <p:cNvPr id="154" name="Rounded Rectangle 153"/>
          <p:cNvSpPr/>
          <p:nvPr/>
        </p:nvSpPr>
        <p:spPr>
          <a:xfrm>
            <a:off x="365760" y="3026664"/>
            <a:ext cx="8412480" cy="80467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rIns="228600"/>
          <a:lstStyle/>
          <a:p>
            <a:pPr algn="ctr">
              <a:spcAft>
                <a:spcPts val="200"/>
              </a:spcAft>
              <a:defRPr sz="1200" b="1">
                <a:solidFill>
                  <a:srgbClr val="FDD663"/>
                </a:solidFill>
                <a:latin typeface="Google Sans Flex"/>
              </a:defRPr>
            </a:pPr>
            <a:r>
              <a:t>Milestone 3: Automated Non-Lethal IoT Deterrence Integration</a:t>
            </a:r>
          </a:p>
          <a:p>
            <a:pPr>
              <a:defRPr sz="950">
                <a:solidFill>
                  <a:srgbClr val="E8EAED"/>
                </a:solidFill>
                <a:latin typeface="Google Sans Flex"/>
              </a:defRPr>
            </a:pPr>
            <a:r>
              <a:t>Interconnect geofence triggers with solar-powered boundary acoustic sirens (e.g., recorded bee swarms for elephants) and strobe deterrents to redirect herds harmlessly.</a:t>
            </a:r>
          </a:p>
        </p:txBody>
      </p:sp>
      <p:sp>
        <p:nvSpPr>
          <p:cNvPr id="155" name="Rounded Rectangle 154"/>
          <p:cNvSpPr/>
          <p:nvPr/>
        </p:nvSpPr>
        <p:spPr>
          <a:xfrm>
            <a:off x="365760" y="3922776"/>
            <a:ext cx="8412480" cy="80467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rIns="228600"/>
          <a:lstStyle/>
          <a:p>
            <a:pPr algn="ctr">
              <a:spcAft>
                <a:spcPts val="200"/>
              </a:spcAft>
              <a:defRPr sz="1200" b="1">
                <a:solidFill>
                  <a:srgbClr val="BDC1C6"/>
                </a:solidFill>
                <a:latin typeface="Google Sans Flex"/>
              </a:defRPr>
            </a:pPr>
            <a:r>
              <a:t>Milestone 4: Autonomous Thermal Inspection Drone Fleet</a:t>
            </a:r>
          </a:p>
          <a:p>
            <a:pPr>
              <a:defRPr sz="950">
                <a:solidFill>
                  <a:srgbClr val="E8EAED"/>
                </a:solidFill>
                <a:latin typeface="Google Sans Flex"/>
              </a:defRPr>
            </a:pPr>
            <a:r>
              <a:t>Integrate automated drone dispatch APIs to launch nocturnal thermal camera patrols verifying Tier 3 geofence incursions before field teams respond.</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FFFFFF"/>
                </a:solidFill>
                <a:latin typeface="Google Sans Flex"/>
              </a:defRPr>
            </a:pPr>
            <a:r>
              <a:t>Provide links to your:</a:t>
            </a:r>
            <a:endParaRPr sz="1600">
              <a:latin typeface="Google Sans Flex Medium"/>
              <a:ea typeface="Google Sans Flex Medium"/>
              <a:cs typeface="Google Sans Flex Medium"/>
              <a:sym typeface="Google Sans Flex Medium"/>
            </a:endParaRPr>
          </a:p>
        </p:txBody>
      </p:sp>
      <p:sp>
        <p:nvSpPr>
          <p:cNvPr id="160" name="Rounded Rectangle 159"/>
          <p:cNvSpPr/>
          <p:nvPr/>
        </p:nvSpPr>
        <p:spPr>
          <a:xfrm>
            <a:off x="365760" y="1234440"/>
            <a:ext cx="841248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rIns="228600"/>
          <a:lstStyle/>
          <a:p>
            <a:pPr algn="ctr">
              <a:spcAft>
                <a:spcPts val="200"/>
              </a:spcAft>
              <a:defRPr sz="1200" b="1">
                <a:solidFill>
                  <a:srgbClr val="8AB4F8"/>
                </a:solidFill>
                <a:latin typeface="Google Sans Flex"/>
              </a:defRPr>
            </a:pPr>
            <a:r>
              <a:t>1. GitHub Public Repository</a:t>
            </a:r>
          </a:p>
          <a:p>
            <a:pPr>
              <a:spcAft>
                <a:spcPts val="200"/>
              </a:spcAft>
              <a:defRPr sz="1050" b="1">
                <a:solidFill>
                  <a:srgbClr val="FFFFFF"/>
                </a:solidFill>
                <a:latin typeface="Google Sans Flex"/>
              </a:defRPr>
            </a:pPr>
            <a:r>
              <a:t>https://github.com/CoExistShieldAI/CoExistShieldAI</a:t>
            </a:r>
          </a:p>
          <a:p>
            <a:pPr>
              <a:defRPr sz="900">
                <a:solidFill>
                  <a:srgbClr val="BDC1C6"/>
                </a:solidFill>
                <a:latin typeface="Google Sans Flex"/>
              </a:defRPr>
            </a:pPr>
            <a:r>
              <a:t>Full source code: Go Cloud Run backend, Angular 22 admin portal, Kotlin Multiplatform shared library, Compose Android app, Wear OS companion app, Playwright E2E suites, and Terraform IaC.</a:t>
            </a:r>
          </a:p>
        </p:txBody>
      </p:sp>
      <p:sp>
        <p:nvSpPr>
          <p:cNvPr id="161" name="Rounded Rectangle 160"/>
          <p:cNvSpPr/>
          <p:nvPr/>
        </p:nvSpPr>
        <p:spPr>
          <a:xfrm>
            <a:off x="365760" y="2423160"/>
            <a:ext cx="841248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rIns="228600"/>
          <a:lstStyle/>
          <a:p>
            <a:pPr algn="ctr">
              <a:spcAft>
                <a:spcPts val="200"/>
              </a:spcAft>
              <a:defRPr sz="1200" b="1">
                <a:solidFill>
                  <a:srgbClr val="F28B82"/>
                </a:solidFill>
                <a:latin typeface="Google Sans Flex"/>
              </a:defRPr>
            </a:pPr>
            <a:r>
              <a:t>2. Demo Video Link (3 Minutes)</a:t>
            </a:r>
          </a:p>
          <a:p>
            <a:pPr>
              <a:spcAft>
                <a:spcPts val="200"/>
              </a:spcAft>
              <a:defRPr sz="1050" b="1">
                <a:solidFill>
                  <a:srgbClr val="FFFFFF"/>
                </a:solidFill>
                <a:latin typeface="Google Sans Flex"/>
              </a:defRPr>
            </a:pPr>
            <a:r>
              <a:t>[YouTube 3-Min Demo Video Link - e.g. https://youtu.be/...]</a:t>
            </a:r>
          </a:p>
          <a:p>
            <a:pPr>
              <a:defRPr sz="900">
                <a:solidFill>
                  <a:srgbClr val="BDC1C6"/>
                </a:solidFill>
                <a:latin typeface="Google Sans Flex"/>
              </a:defRPr>
            </a:pPr>
            <a:r>
              <a:t>Cinematic high-definition walkthrough: opening rainforest crisis, Wear OS wrist haptic warning in sugarcane fields, ranger roadkill triage, and JAPAC operations dashboard.</a:t>
            </a:r>
          </a:p>
        </p:txBody>
      </p:sp>
      <p:sp>
        <p:nvSpPr>
          <p:cNvPr id="162" name="Rounded Rectangle 161"/>
          <p:cNvSpPr/>
          <p:nvPr/>
        </p:nvSpPr>
        <p:spPr>
          <a:xfrm>
            <a:off x="365760" y="3611880"/>
            <a:ext cx="8412480" cy="1078992"/>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228600" tIns="91440" rIns="228600"/>
          <a:lstStyle/>
          <a:p>
            <a:pPr algn="ctr">
              <a:spcAft>
                <a:spcPts val="200"/>
              </a:spcAft>
              <a:defRPr sz="1200" b="1">
                <a:solidFill>
                  <a:srgbClr val="81C995"/>
                </a:solidFill>
                <a:latin typeface="Google Sans Flex"/>
              </a:defRPr>
            </a:pPr>
            <a:r>
              <a:t>3. Final Product Link (Live Applications)</a:t>
            </a:r>
          </a:p>
          <a:p>
            <a:pPr>
              <a:spcAft>
                <a:spcPts val="200"/>
              </a:spcAft>
              <a:defRPr sz="1050" b="1">
                <a:solidFill>
                  <a:srgbClr val="FFFFFF"/>
                </a:solidFill>
                <a:latin typeface="Google Sans Flex"/>
              </a:defRPr>
            </a:pPr>
            <a:r>
              <a:t>• Field Web Application (KMP / Compose): https://corald.web.app</a:t>
            </a:r>
            <a:br/>
            <a:r>
              <a:t>• Operations Admin Portal (Angular 22): https://corald-admin.web.app</a:t>
            </a:r>
            <a:br/>
            <a:r>
              <a:t>• Live Cloud Run API (Singapore): https://coexistshield-backend-4cerxfo4wq-as.a.run.app</a:t>
            </a:r>
          </a:p>
          <a:p>
            <a:pPr>
              <a:defRPr sz="900">
                <a:solidFill>
                  <a:srgbClr val="BDC1C6"/>
                </a:solidFill>
                <a:latin typeface="Google Sans Flex"/>
              </a:defRPr>
            </a:pPr>
            <a:r>
              <a:t>Active production deployments hosted on Google Cloud Run and Firebase Hosting.</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TextBox 166"/>
          <p:cNvSpPr txBox="1"/>
          <p:nvPr/>
        </p:nvSpPr>
        <p:spPr>
          <a:xfrm>
            <a:off x="265176" y="667512"/>
            <a:ext cx="8686800" cy="502920"/>
          </a:xfrm>
          <a:prstGeom prst="rect">
            <a:avLst/>
          </a:prstGeom>
          <a:noFill/>
        </p:spPr>
        <p:txBody>
          <a:bodyPr wrap="none">
            <a:spAutoFit/>
          </a:bodyPr>
          <a:lstStyle/>
          <a:p>
            <a:pPr>
              <a:defRPr sz="2000" b="1">
                <a:solidFill>
                  <a:srgbClr val="FFFFFF"/>
                </a:solidFill>
                <a:latin typeface="Google Sans Flex"/>
              </a:defRPr>
            </a:pPr>
            <a:r>
              <a:t>Global Impact, Business Model &amp; One Health Barrier</a:t>
            </a:r>
          </a:p>
        </p:txBody>
      </p:sp>
      <p:sp>
        <p:nvSpPr>
          <p:cNvPr id="168" name="Rounded Rectangle 167"/>
          <p:cNvSpPr/>
          <p:nvPr/>
        </p:nvSpPr>
        <p:spPr>
          <a:xfrm>
            <a:off x="36576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200" b="1">
                <a:solidFill>
                  <a:srgbClr val="8AB4F8"/>
                </a:solidFill>
                <a:latin typeface="Google Sans Flex"/>
              </a:defRPr>
            </a:pPr>
            <a:r>
              <a:t>APAC Commercial Plantations (B2B SaaS)</a:t>
            </a:r>
          </a:p>
          <a:p>
            <a:pPr>
              <a:spcAft>
                <a:spcPts val="600"/>
              </a:spcAft>
              <a:defRPr sz="950">
                <a:solidFill>
                  <a:srgbClr val="E8EAED"/>
                </a:solidFill>
                <a:latin typeface="Google Sans Flex"/>
              </a:defRPr>
            </a:pPr>
            <a:r>
              <a:t>• Target: Major palm oil, rubber, and timber conglomerates across Southeast Asia (Wilmar, Sime Darby, Golden Agri-Resources).</a:t>
            </a:r>
          </a:p>
          <a:p>
            <a:pPr>
              <a:spcAft>
                <a:spcPts val="600"/>
              </a:spcAft>
              <a:defRPr sz="950">
                <a:solidFill>
                  <a:srgbClr val="E8EAED"/>
                </a:solidFill>
                <a:latin typeface="Google Sans Flex"/>
              </a:defRPr>
            </a:pPr>
            <a:r>
              <a:t>• Value Proposition: Eliminates fatal carnivore attacks, prevents labor walkouts, saves $50k–$200k nightly crop losses, and guarantees RSPO/FSC zero-harm ESG compliance.</a:t>
            </a:r>
          </a:p>
          <a:p>
            <a:pPr>
              <a:spcAft>
                <a:spcPts val="600"/>
              </a:spcAft>
              <a:defRPr sz="950">
                <a:solidFill>
                  <a:srgbClr val="E8EAED"/>
                </a:solidFill>
                <a:latin typeface="Google Sans Flex"/>
              </a:defRPr>
            </a:pPr>
            <a:r>
              <a:t>• Model: Annual per-hectare subscription license + telemetry API feeds.</a:t>
            </a:r>
          </a:p>
        </p:txBody>
      </p:sp>
      <p:sp>
        <p:nvSpPr>
          <p:cNvPr id="169" name="Rounded Rectangle 168"/>
          <p:cNvSpPr/>
          <p:nvPr/>
        </p:nvSpPr>
        <p:spPr>
          <a:xfrm>
            <a:off x="324612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200" b="1">
                <a:solidFill>
                  <a:srgbClr val="81C995"/>
                </a:solidFill>
                <a:latin typeface="Google Sans Flex"/>
              </a:defRPr>
            </a:pPr>
            <a:r>
              <a:t>Municipal Wildlife Defense (B2G &amp; GCF)</a:t>
            </a:r>
          </a:p>
          <a:p>
            <a:pPr>
              <a:spcAft>
                <a:spcPts val="600"/>
              </a:spcAft>
              <a:defRPr sz="950">
                <a:solidFill>
                  <a:srgbClr val="E8EAED"/>
                </a:solidFill>
                <a:latin typeface="Google Sans Flex"/>
              </a:defRPr>
            </a:pPr>
            <a:r>
              <a:t>• Target: Depopulated prefectural &amp; municipal governments facing acute wildlife encroachment (Japan &amp; temperate zones).</a:t>
            </a:r>
          </a:p>
          <a:p>
            <a:pPr>
              <a:spcAft>
                <a:spcPts val="600"/>
              </a:spcAft>
              <a:defRPr sz="950">
                <a:solidFill>
                  <a:srgbClr val="E8EAED"/>
                </a:solidFill>
                <a:latin typeface="Google Sans Flex"/>
              </a:defRPr>
            </a:pPr>
            <a:r>
              <a:t>• Decision Support: Pinpoints highest-risk top 5% abandoned fruit trees near residential zones.</a:t>
            </a:r>
          </a:p>
          <a:p>
            <a:pPr>
              <a:spcAft>
                <a:spcPts val="600"/>
              </a:spcAft>
              <a:defRPr sz="950">
                <a:solidFill>
                  <a:srgbClr val="E8EAED"/>
                </a:solidFill>
                <a:latin typeface="Google Sans Flex"/>
              </a:defRPr>
            </a:pPr>
            <a:r>
              <a:t>• Funding Mechanics: Integrated with Government Crowdfunding (GCF / Furusato Nozei) to subsidize tree felling without draining municipal budgets.</a:t>
            </a:r>
          </a:p>
        </p:txBody>
      </p:sp>
      <p:sp>
        <p:nvSpPr>
          <p:cNvPr id="170" name="Rounded Rectangle 169"/>
          <p:cNvSpPr/>
          <p:nvPr/>
        </p:nvSpPr>
        <p:spPr>
          <a:xfrm>
            <a:off x="6126480" y="1234440"/>
            <a:ext cx="2697480" cy="3566160"/>
          </a:xfrm>
          <a:prstGeom prst="roundRect">
            <a:avLst/>
          </a:prstGeom>
          <a:solidFill>
            <a:srgbClr val="181A20"/>
          </a:solidFill>
          <a:ln w="12700">
            <a:solidFill>
              <a:srgbClr val="3C4043"/>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000"/>
              </a:spcAft>
              <a:defRPr sz="1200" b="1">
                <a:solidFill>
                  <a:srgbClr val="F28B82"/>
                </a:solidFill>
                <a:latin typeface="Google Sans Flex"/>
              </a:defRPr>
            </a:pPr>
            <a:r>
              <a:t>Global One Health Barrier</a:t>
            </a:r>
          </a:p>
          <a:p>
            <a:pPr>
              <a:spcAft>
                <a:spcPts val="600"/>
              </a:spcAft>
              <a:defRPr sz="950">
                <a:solidFill>
                  <a:srgbClr val="E8EAED"/>
                </a:solidFill>
                <a:latin typeface="Google Sans Flex"/>
              </a:defRPr>
            </a:pPr>
            <a:r>
              <a:t>• Zoonotic Pandemic Shield: Autonomous carcass surveillance network rapidly removes decaying carcasses that breed infectious pathogens and shuts down dangerous bushmeat supply chains.</a:t>
            </a:r>
          </a:p>
          <a:p>
            <a:pPr>
              <a:spcAft>
                <a:spcPts val="600"/>
              </a:spcAft>
              <a:defRPr sz="950">
                <a:solidFill>
                  <a:srgbClr val="E8EAED"/>
                </a:solidFill>
                <a:latin typeface="Google Sans Flex"/>
              </a:defRPr>
            </a:pPr>
            <a:r>
              <a:t>• Cross-Border Scalability: Algorithms seamlessly expand from tropical rainforests (tigers/elephants) to temperate mountains (bears).</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