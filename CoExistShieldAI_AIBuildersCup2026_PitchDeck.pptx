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72" r:id="rId28"/>
    <p:sldId id="273" r:id="rId2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 Id="rId28" Type="http://schemas.openxmlformats.org/officeDocument/2006/relationships/slide" Target="slides/slide17.xml"/><Relationship Id="rId2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2000"/>
              </a:spcAft>
              <a:buNone/>
              <a:defRPr sz="2800" b="1">
                <a:solidFill>
                  <a:srgbClr val="FFFFFF"/>
                </a:solidFill>
                <a:latin typeface="Google Sans Flex"/>
              </a:defRPr>
            </a:pPr>
            <a:r>
              <a:t>Team Details</a:t>
            </a:r>
            <a:endParaRPr sz="2100">
              <a:latin typeface="Google Sans Flex SemiBold"/>
              <a:ea typeface="Google Sans Flex SemiBold"/>
              <a:cs typeface="Google Sans Flex SemiBold"/>
              <a:sym typeface="Google Sans Flex SemiBold"/>
            </a:endParaRPr>
          </a:p>
          <a:p>
            <a:pPr>
              <a:spcAft>
                <a:spcPts val="1000"/>
              </a:spcAft>
            </a:pPr>
            <a:r>
              <a:rPr sz="1300" b="1">
                <a:solidFill>
                  <a:srgbClr val="8AB4F8"/>
                </a:solidFill>
                <a:latin typeface="Google Sans Flex"/>
              </a:rPr>
              <a:t>Team Name: </a:t>
            </a:r>
            <a:r>
              <a:rPr sz="1300">
                <a:solidFill>
                  <a:srgbClr val="E8EAED"/>
                </a:solidFill>
                <a:latin typeface="Google Sans Flex"/>
              </a:rPr>
              <a:t>CoExist Shield AI (CoralD)</a:t>
            </a:r>
          </a:p>
          <a:p>
            <a:pPr>
              <a:spcAft>
                <a:spcPts val="1000"/>
              </a:spcAft>
            </a:pPr>
            <a:r>
              <a:rPr sz="1300" b="1">
                <a:solidFill>
                  <a:srgbClr val="8AB4F8"/>
                </a:solidFill>
                <a:latin typeface="Google Sans Flex"/>
              </a:rPr>
              <a:t>Track / Theme: </a:t>
            </a:r>
            <a:r>
              <a:rPr sz="1300">
                <a:solidFill>
                  <a:srgbClr val="E8EAED"/>
                </a:solidFill>
                <a:latin typeface="Google Sans Flex"/>
              </a:rPr>
              <a:t>AI Builders Cup 2026 — Autonomous AI Agents for Global Coexistence</a:t>
            </a:r>
          </a:p>
          <a:p>
            <a:pPr>
              <a:spcAft>
                <a:spcPts val="1000"/>
              </a:spcAft>
            </a:pPr>
            <a:r>
              <a:rPr sz="1300" b="1">
                <a:solidFill>
                  <a:srgbClr val="8AB4F8"/>
                </a:solidFill>
                <a:latin typeface="Google Sans Flex"/>
              </a:rPr>
              <a:t>Team Leader: </a:t>
            </a:r>
            <a:r>
              <a:rPr sz="1300">
                <a:solidFill>
                  <a:srgbClr val="E8EAED"/>
                </a:solidFill>
                <a:latin typeface="Google Sans Flex"/>
              </a:rPr>
              <a:t>Katsumi Honda (Project Lead / Core Architect)</a:t>
            </a:r>
          </a:p>
          <a:p>
            <a:pPr>
              <a:spcAft>
                <a:spcPts val="1000"/>
              </a:spcAft>
            </a:pPr>
            <a:r>
              <a:rPr sz="1300" b="1">
                <a:solidFill>
                  <a:srgbClr val="8AB4F8"/>
                </a:solidFill>
                <a:latin typeface="Google Sans Flex"/>
              </a:rPr>
              <a:t>Contact Email: </a:t>
            </a:r>
            <a:r>
              <a:rPr sz="1300">
                <a:solidFill>
                  <a:srgbClr val="E8EAED"/>
                </a:solidFill>
                <a:latin typeface="Google Sans Flex"/>
              </a:rPr>
              <a:t>katsumi.honda.official@gmail.com</a:t>
            </a:r>
          </a:p>
          <a:p>
            <a:pPr>
              <a:spcAft>
                <a:spcPts val="1000"/>
              </a:spcAft>
            </a:pPr>
            <a:r>
              <a:rPr sz="1300" b="1">
                <a:solidFill>
                  <a:srgbClr val="8AB4F8"/>
                </a:solidFill>
                <a:latin typeface="Google Sans Flex"/>
              </a:rPr>
              <a:t>Key Mission: </a:t>
            </a:r>
            <a:r>
              <a:rPr sz="1300">
                <a:solidFill>
                  <a:srgbClr val="E8EAED"/>
                </a:solidFill>
                <a:latin typeface="Google Sans Flex"/>
              </a:rPr>
              <a:t>Eliminating fatal human-wildlife encounters across JAPAC through causal predictive geofences &amp; dual-watch wrist haptics.</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defRPr sz="2000" b="1">
                <a:solidFill>
                  <a:srgbClr val="FFFFFF"/>
                </a:solidFill>
                <a:latin typeface="Google Sans Flex"/>
              </a:defRPr>
            </a:pPr>
            <a:r>
              <a:t>Executive Overview</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
        <p:nvSpPr>
          <p:cNvPr id="65" name="Rounded Rectangle 64"/>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50" b="1">
                <a:solidFill>
                  <a:srgbClr val="8AB4F8"/>
                </a:solidFill>
                <a:latin typeface="Google Sans Flex"/>
              </a:defRPr>
            </a:pPr>
            <a:r>
              <a:t>1. Multi-Source Causal AI Brain</a:t>
            </a:r>
          </a:p>
          <a:p>
            <a:pPr>
              <a:spcAft>
                <a:spcPts val="600"/>
              </a:spcAft>
            </a:pPr>
            <a:r>
              <a:rPr b="1" sz="950">
                <a:solidFill>
                  <a:srgbClr val="FFFFFF"/>
                </a:solidFill>
              </a:rPr>
              <a:t>• Google Gemini 3.8 Flash: </a:t>
            </a:r>
            <a:r>
              <a:rPr sz="900">
                <a:solidFill>
                  <a:srgbClr val="BDC1C6"/>
                </a:solidFill>
              </a:rPr>
              <a:t>Sub-second multimodal photo triage with zero-syntax Structured JSON outputs for species, fruit ripening, and forensic carcass decay.</a:t>
            </a:r>
          </a:p>
          <a:p>
            <a:pPr>
              <a:spcAft>
                <a:spcPts val="600"/>
              </a:spcAft>
            </a:pPr>
            <a:r>
              <a:rPr b="1" sz="950">
                <a:solidFill>
                  <a:srgbClr val="FFFFFF"/>
                </a:solidFill>
              </a:rPr>
              <a:t>• Continuous Environmental Ingestion: </a:t>
            </a:r>
            <a:r>
              <a:rPr sz="900">
                <a:solidFill>
                  <a:srgbClr val="BDC1C6"/>
                </a:solidFill>
              </a:rPr>
              <a:t>Monitors agricultural harvest phenology, NASA FIRMS thermal hotspots, road traffic, and Open-Meteo feeds in real time.</a:t>
            </a:r>
          </a:p>
          <a:p>
            <a:pPr>
              <a:spcAft>
                <a:spcPts val="600"/>
              </a:spcAft>
            </a:pPr>
            <a:r>
              <a:rPr b="1" sz="950">
                <a:solidFill>
                  <a:srgbClr val="FFFFFF"/>
                </a:solidFill>
              </a:rPr>
              <a:t>• Olfactory &amp; Nocturnal Modeling: </a:t>
            </a:r>
            <a:r>
              <a:rPr sz="900">
                <a:solidFill>
                  <a:srgbClr val="BDC1C6"/>
                </a:solidFill>
              </a:rPr>
              <a:t>Simulates carcass decomposition scent plumes, wind vectors, and lunar illumination to predict animal transit corridors.</a:t>
            </a:r>
          </a:p>
        </p:txBody>
      </p:sp>
      <p:sp>
        <p:nvSpPr>
          <p:cNvPr id="66" name="Rounded Rectangle 65"/>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50" b="1">
                <a:solidFill>
                  <a:srgbClr val="81C995"/>
                </a:solidFill>
                <a:latin typeface="Google Sans Flex"/>
              </a:defRPr>
            </a:pPr>
            <a:r>
              <a:t>2. Dual-Watch 3-Tier Alert Ecosystem</a:t>
            </a:r>
          </a:p>
          <a:p>
            <a:pPr>
              <a:spcAft>
                <a:spcPts val="600"/>
              </a:spcAft>
            </a:pPr>
            <a:r>
              <a:rPr b="1" sz="950">
                <a:solidFill>
                  <a:srgbClr val="FFFFFF"/>
                </a:solidFill>
              </a:rPr>
              <a:t>• Cross-Platform Wearables: </a:t>
            </a:r>
            <a:r>
              <a:rPr sz="900">
                <a:solidFill>
                  <a:srgbClr val="BDC1C6"/>
                </a:solidFill>
              </a:rPr>
              <a:t>Native companion apps for Wear OS (Compose) &amp; Apple Watch (watchOS 9.0+ / SwiftUI / WCSession / Taptic Engine).</a:t>
            </a:r>
          </a:p>
          <a:p>
            <a:pPr>
              <a:spcAft>
                <a:spcPts val="600"/>
              </a:spcAft>
            </a:pPr>
            <a:r>
              <a:rPr b="1" sz="950">
                <a:solidFill>
                  <a:srgbClr val="FFFFFF"/>
                </a:solidFill>
              </a:rPr>
              <a:t>• Eyes-Free Tactile Discernment: </a:t>
            </a:r>
            <a:r>
              <a:rPr sz="900">
                <a:solidFill>
                  <a:srgbClr val="BDC1C6"/>
                </a:solidFill>
              </a:rPr>
              <a:t>Distinct escalating wrist haptic waveforms alert field workers in dense jungle without requiring screen line-of-sight.</a:t>
            </a:r>
          </a:p>
          <a:p>
            <a:pPr>
              <a:spcAft>
                <a:spcPts val="600"/>
              </a:spcAft>
            </a:pPr>
            <a:r>
              <a:rPr b="1" sz="950">
                <a:solidFill>
                  <a:srgbClr val="FFFFFF"/>
                </a:solidFill>
              </a:rPr>
              <a:t>• Foldable-Optimized Field App: </a:t>
            </a:r>
            <a:r>
              <a:rPr sz="900">
                <a:solidFill>
                  <a:srgbClr val="BDC1C6"/>
                </a:solidFill>
              </a:rPr>
              <a:t>Adaptive 3-tier radar HUD with dual-screen posture support (Pixel Fold / Surface Duo) and offline local caching.</a:t>
            </a:r>
          </a:p>
        </p:txBody>
      </p:sp>
      <p:sp>
        <p:nvSpPr>
          <p:cNvPr id="67" name="Rounded Rectangle 66"/>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50" b="1">
                <a:solidFill>
                  <a:srgbClr val="F28B82"/>
                </a:solidFill>
                <a:latin typeface="Google Sans Flex"/>
              </a:defRPr>
            </a:pPr>
            <a:r>
              <a:t>3. Production Cloud &amp; JAPAC Operations</a:t>
            </a:r>
          </a:p>
          <a:p>
            <a:pPr>
              <a:spcAft>
                <a:spcPts val="600"/>
              </a:spcAft>
            </a:pPr>
            <a:r>
              <a:rPr b="1" sz="950">
                <a:solidFill>
                  <a:srgbClr val="FFFFFF"/>
                </a:solidFill>
              </a:rPr>
              <a:t>• Optimized Cloud Run Microservice: </a:t>
            </a:r>
            <a:r>
              <a:rPr sz="900">
                <a:solidFill>
                  <a:srgbClr val="BDC1C6"/>
                </a:solidFill>
              </a:rPr>
              <a:t>Go 1.24 distroless container with CPU boost &amp; async hydration (&lt;10ms cold start) deployed in Singapore (asia-southeast1).</a:t>
            </a:r>
          </a:p>
          <a:p>
            <a:pPr>
              <a:spcAft>
                <a:spcPts val="600"/>
              </a:spcAft>
            </a:pPr>
            <a:r>
              <a:rPr b="1" sz="950">
                <a:solidFill>
                  <a:srgbClr val="FFFFFF"/>
                </a:solidFill>
              </a:rPr>
              <a:t>• Angular 22 Admin Console: </a:t>
            </a:r>
            <a:r>
              <a:rPr sz="900">
                <a:solidFill>
                  <a:srgbClr val="BDC1C6"/>
                </a:solidFill>
              </a:rPr>
              <a:t>Full JAPAC Google Maps GIS console with manual geofencing overrides, GCS multi-photo uploads, and broadcast dispatches.</a:t>
            </a:r>
          </a:p>
          <a:p>
            <a:pPr>
              <a:spcAft>
                <a:spcPts val="600"/>
              </a:spcAft>
            </a:pPr>
            <a:r>
              <a:rPr b="1" sz="950">
                <a:solidFill>
                  <a:srgbClr val="FFFFFF"/>
                </a:solidFill>
              </a:rPr>
              <a:t>• BigQuery GIS ML Lake: </a:t>
            </a:r>
            <a:r>
              <a:rPr sz="900">
                <a:solidFill>
                  <a:srgbClr val="BDC1C6"/>
                </a:solidFill>
              </a:rPr>
              <a:t>Continuous event streaming and automated model retraining pipeline with statistical gate verification.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Brief about the idea</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365760" y="1234440"/>
            <a:ext cx="411480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0"/>
              </a:spcAft>
              <a:defRPr sz="1300" b="1">
                <a:solidFill>
                  <a:srgbClr val="8AB4F8"/>
                </a:solidFill>
                <a:latin typeface="Google Sans Flex"/>
              </a:defRPr>
            </a:pPr>
            <a:r>
              <a:t>The Ecological Insight: Root-Cause Attractants</a:t>
            </a:r>
          </a:p>
          <a:p>
            <a:pPr>
              <a:spcAft>
                <a:spcPts val="800"/>
              </a:spcAft>
            </a:pPr>
            <a:r>
              <a:rPr b="1" sz="1000">
                <a:solidFill>
                  <a:srgbClr val="FFFFFF"/>
                </a:solidFill>
              </a:rPr>
              <a:t>• Crop-Raiding Drivers: </a:t>
            </a:r>
            <a:r>
              <a:rPr sz="950">
                <a:solidFill>
                  <a:srgbClr val="BDC1C6"/>
                </a:solidFill>
              </a:rPr>
              <a:t>Elephants raid agricultural lands not randomly, but driven by acute olfactory attraction to high-calorie ripening sugarcane, bananas, and jackfruit along forest boundaries.</a:t>
            </a:r>
          </a:p>
          <a:p>
            <a:pPr>
              <a:spcAft>
                <a:spcPts val="800"/>
              </a:spcAft>
            </a:pPr>
            <a:r>
              <a:rPr b="1" sz="1000">
                <a:solidFill>
                  <a:srgbClr val="FFFFFF"/>
                </a:solidFill>
              </a:rPr>
              <a:t>• Predator Prey Magnets: </a:t>
            </a:r>
            <a:r>
              <a:rPr sz="950">
                <a:solidFill>
                  <a:srgbClr val="BDC1C6"/>
                </a:solidFill>
              </a:rPr>
              <a:t>Tigers and leopards are lured to plantation edges by open livestock corrals and roadside carcasses. Tigers exhibit kill-site caching (returning over 24–72 hours), creating deadly human ambush flashpoints.</a:t>
            </a:r>
          </a:p>
          <a:p>
            <a:pPr>
              <a:spcAft>
                <a:spcPts val="800"/>
              </a:spcAft>
            </a:pPr>
            <a:r>
              <a:rPr b="1" sz="1000">
                <a:solidFill>
                  <a:srgbClr val="FFFFFF"/>
                </a:solidFill>
              </a:rPr>
              <a:t>• Global One Health Threat: </a:t>
            </a:r>
            <a:r>
              <a:rPr sz="950">
                <a:solidFill>
                  <a:srgbClr val="BDC1C6"/>
                </a:solidFill>
              </a:rPr>
              <a:t>Decomposing carcasses breed infectious pathogens and fuel dangerous bushmeat trade, posing catastrophic zoonotic spillover risks.</a:t>
            </a:r>
          </a:p>
        </p:txBody>
      </p:sp>
      <p:sp>
        <p:nvSpPr>
          <p:cNvPr id="73" name="Rounded Rectangle 72"/>
          <p:cNvSpPr/>
          <p:nvPr/>
        </p:nvSpPr>
        <p:spPr>
          <a:xfrm>
            <a:off x="4663440" y="1234440"/>
            <a:ext cx="411480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0"/>
              </a:spcAft>
              <a:defRPr sz="1300" b="1">
                <a:solidFill>
                  <a:srgbClr val="81C995"/>
                </a:solidFill>
                <a:latin typeface="Google Sans Flex"/>
              </a:defRPr>
            </a:pPr>
            <a:r>
              <a:t>The Autonomous Predictive Shield</a:t>
            </a:r>
          </a:p>
          <a:p>
            <a:pPr>
              <a:spcAft>
                <a:spcPts val="800"/>
              </a:spcAft>
            </a:pPr>
            <a:r>
              <a:rPr b="1" sz="1000">
                <a:solidFill>
                  <a:srgbClr val="FFFFFF"/>
                </a:solidFill>
              </a:rPr>
              <a:t>• Predictive Geofencing Engine: </a:t>
            </a:r>
            <a:r>
              <a:rPr sz="950">
                <a:solidFill>
                  <a:srgbClr val="BDC1C6"/>
                </a:solidFill>
              </a:rPr>
              <a:t>Replaces static physical fences with dynamic spatial hazard polygons recalculated in real time from meteorological, phenological, and sensor streams.</a:t>
            </a:r>
          </a:p>
          <a:p>
            <a:pPr>
              <a:spcAft>
                <a:spcPts val="800"/>
              </a:spcAft>
            </a:pPr>
            <a:r>
              <a:rPr b="1" sz="1000">
                <a:solidFill>
                  <a:srgbClr val="FFFFFF"/>
                </a:solidFill>
              </a:rPr>
              <a:t>• Dual-Watch Instant Alerts: </a:t>
            </a:r>
            <a:r>
              <a:rPr sz="950">
                <a:solidFill>
                  <a:srgbClr val="BDC1C6"/>
                </a:solidFill>
              </a:rPr>
              <a:t>Delivers sub-second 3-tier warnings (Notice / Warning / Danger Siren) to mobile devices, Wear OS, and Apple Watch with directional wrist haptics before entering danger zones.</a:t>
            </a:r>
          </a:p>
          <a:p>
            <a:pPr>
              <a:spcAft>
                <a:spcPts val="800"/>
              </a:spcAft>
            </a:pPr>
            <a:r>
              <a:rPr b="1" sz="1000">
                <a:solidFill>
                  <a:srgbClr val="FFFFFF"/>
                </a:solidFill>
              </a:rPr>
              <a:t>• Actionable Incident Response: </a:t>
            </a:r>
            <a:r>
              <a:rPr sz="950">
                <a:solidFill>
                  <a:srgbClr val="BDC1C6"/>
                </a:solidFill>
              </a:rPr>
              <a:t>Rangers and municipal teams receive prioritized carcass removal targets and harvest coordination proposals to neutralize attractants before carnivores arrive.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Opportunities, Problem Solving &amp; Key USP</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8AB4F8"/>
                </a:solidFill>
                <a:latin typeface="Google Sans Flex"/>
              </a:defRPr>
            </a:pPr>
            <a:r>
              <a:t>Opportunities &amp; Scale</a:t>
            </a:r>
          </a:p>
          <a:p>
            <a:pPr>
              <a:spcAft>
                <a:spcPts val="600"/>
              </a:spcAft>
            </a:pPr>
            <a:r>
              <a:rPr b="1" sz="950">
                <a:solidFill>
                  <a:srgbClr val="FFFFFF"/>
                </a:solidFill>
              </a:rPr>
              <a:t>• Global Economic Toll: </a:t>
            </a:r>
            <a:r>
              <a:rPr sz="900">
                <a:solidFill>
                  <a:srgbClr val="BDC1C6"/>
                </a:solidFill>
              </a:rPr>
              <a:t>$5B+ in annual agricultural &amp; livestock damage worldwide. Single elephant raid causes $50k–$200k in lost crops.</a:t>
            </a:r>
          </a:p>
          <a:p>
            <a:pPr>
              <a:spcAft>
                <a:spcPts val="600"/>
              </a:spcAft>
            </a:pPr>
            <a:r>
              <a:rPr b="1" sz="950">
                <a:solidFill>
                  <a:srgbClr val="FFFFFF"/>
                </a:solidFill>
              </a:rPr>
              <a:t>• Labor Stoppage Costs: </a:t>
            </a:r>
            <a:r>
              <a:rPr sz="900">
                <a:solidFill>
                  <a:srgbClr val="BDC1C6"/>
                </a:solidFill>
              </a:rPr>
              <a:t>A single fatal tiger encounter causes weeks of plantation harvester labor strikes, paralyzing operations.</a:t>
            </a:r>
          </a:p>
          <a:p>
            <a:pPr>
              <a:spcAft>
                <a:spcPts val="600"/>
              </a:spcAft>
            </a:pPr>
            <a:r>
              <a:rPr b="1" sz="950">
                <a:solidFill>
                  <a:srgbClr val="FFFFFF"/>
                </a:solidFill>
              </a:rPr>
              <a:t>• ESG &amp; RSPO Mandates: </a:t>
            </a:r>
            <a:r>
              <a:rPr sz="900">
                <a:solidFill>
                  <a:srgbClr val="BDC1C6"/>
                </a:solidFill>
              </a:rPr>
              <a:t>Plantation conglomerates face certification suspension and European market bans if endangered wildlife is harmed.</a:t>
            </a:r>
          </a:p>
        </p:txBody>
      </p:sp>
      <p:sp>
        <p:nvSpPr>
          <p:cNvPr id="81" name="Rounded Rectangle 80"/>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81C995"/>
                </a:solidFill>
                <a:latin typeface="Google Sans Flex"/>
              </a:defRPr>
            </a:pPr>
            <a:r>
              <a:t>How It Solves The Problem</a:t>
            </a:r>
          </a:p>
          <a:p>
            <a:pPr>
              <a:spcAft>
                <a:spcPts val="600"/>
              </a:spcAft>
            </a:pPr>
            <a:r>
              <a:rPr b="1" sz="950">
                <a:solidFill>
                  <a:srgbClr val="FFFFFF"/>
                </a:solidFill>
              </a:rPr>
              <a:t>• Root-Cause Elimination: </a:t>
            </a:r>
            <a:r>
              <a:rPr sz="900">
                <a:solidFill>
                  <a:srgbClr val="BDC1C6"/>
                </a:solidFill>
              </a:rPr>
              <a:t>Pinpoints decomposing carcasses and ripe crop clusters for rapid clearance before animals are attracted.</a:t>
            </a:r>
          </a:p>
          <a:p>
            <a:pPr>
              <a:spcAft>
                <a:spcPts val="600"/>
              </a:spcAft>
            </a:pPr>
            <a:r>
              <a:rPr b="1" sz="950">
                <a:solidFill>
                  <a:srgbClr val="FFFFFF"/>
                </a:solidFill>
              </a:rPr>
              <a:t>• Sub-Second Early Warning: </a:t>
            </a:r>
            <a:r>
              <a:rPr sz="900">
                <a:solidFill>
                  <a:srgbClr val="BDC1C6"/>
                </a:solidFill>
              </a:rPr>
              <a:t>Field workers receive eyes-free wrist haptics 150m–300m away, providing sufficient escape time.</a:t>
            </a:r>
          </a:p>
          <a:p>
            <a:pPr>
              <a:spcAft>
                <a:spcPts val="600"/>
              </a:spcAft>
            </a:pPr>
            <a:r>
              <a:rPr b="1" sz="950">
                <a:solidFill>
                  <a:srgbClr val="FFFFFF"/>
                </a:solidFill>
              </a:rPr>
              <a:t>• Continuous Learning Loop: </a:t>
            </a:r>
            <a:r>
              <a:rPr sz="900">
                <a:solidFill>
                  <a:srgbClr val="BDC1C6"/>
                </a:solidFill>
              </a:rPr>
              <a:t>BigQuery GIS spatio-temporal joins automatically retrain ML probability models on fresh field data.</a:t>
            </a:r>
          </a:p>
        </p:txBody>
      </p:sp>
      <p:sp>
        <p:nvSpPr>
          <p:cNvPr id="82" name="Rounded Rectangle 81"/>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F28B82"/>
                </a:solidFill>
                <a:latin typeface="Google Sans Flex"/>
              </a:defRPr>
            </a:pPr>
            <a:r>
              <a:t>USP of Proposed Solution</a:t>
            </a:r>
          </a:p>
          <a:p>
            <a:pPr>
              <a:spcAft>
                <a:spcPts val="600"/>
              </a:spcAft>
            </a:pPr>
            <a:r>
              <a:rPr b="1" sz="950">
                <a:solidFill>
                  <a:srgbClr val="FFFFFF"/>
                </a:solidFill>
              </a:rPr>
              <a:t>• Causal-Driven (Not Collar-Bound): </a:t>
            </a:r>
            <a:r>
              <a:rPr sz="900">
                <a:solidFill>
                  <a:srgbClr val="BDC1C6"/>
                </a:solidFill>
              </a:rPr>
              <a:t>Forecasts 100% of wildlife movement without needing invasive, expensive GPS collars on every animal.</a:t>
            </a:r>
          </a:p>
          <a:p>
            <a:pPr>
              <a:spcAft>
                <a:spcPts val="600"/>
              </a:spcAft>
            </a:pPr>
            <a:r>
              <a:rPr b="1" sz="950">
                <a:solidFill>
                  <a:srgbClr val="FFFFFF"/>
                </a:solidFill>
              </a:rPr>
              <a:t>• Dual Smartwatch Support: </a:t>
            </a:r>
            <a:r>
              <a:rPr sz="900">
                <a:solidFill>
                  <a:srgbClr val="BDC1C6"/>
                </a:solidFill>
              </a:rPr>
              <a:t>Tactile wrist haptics on both Wear OS (Compose) &amp; Apple Watch (SwiftUI Taptic) for zero-visibility awareness.</a:t>
            </a:r>
          </a:p>
          <a:p>
            <a:pPr>
              <a:spcAft>
                <a:spcPts val="600"/>
              </a:spcAft>
            </a:pPr>
            <a:r>
              <a:rPr b="1" sz="950">
                <a:solidFill>
                  <a:srgbClr val="FFFFFF"/>
                </a:solidFill>
              </a:rPr>
              <a:t>• Live Full-Stack Deployment: </a:t>
            </a:r>
            <a:r>
              <a:rPr sz="900">
                <a:solidFill>
                  <a:srgbClr val="BDC1C6"/>
                </a:solidFill>
              </a:rPr>
              <a:t>Sub-10ms Go serverless backend + production Angular 22 admin + Gemini 3.8 Flash multimodal triage.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6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1. Dynamic 3-Tier Alert HUD</a:t>
            </a:r>
          </a:p>
          <a:p>
            <a:pPr>
              <a:defRPr sz="900">
                <a:solidFill>
                  <a:srgbClr val="E8EAED"/>
                </a:solidFill>
                <a:latin typeface="Google Sans Flex"/>
              </a:defRPr>
            </a:pPr>
            <a:r>
              <a:t>Progressive geofence warnings: Tier 1 Notice (Green/Yellow), Tier 2 Warning (Amber), Tier 3 Danger (Red siren + evacuation dispatch). Adaptive foldable dual-screen support.</a:t>
            </a:r>
          </a:p>
        </p:txBody>
      </p:sp>
      <p:sp>
        <p:nvSpPr>
          <p:cNvPr id="89" name="Rounded Rectangle 88"/>
          <p:cNvSpPr/>
          <p:nvPr/>
        </p:nvSpPr>
        <p:spPr>
          <a:xfrm>
            <a:off x="466344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2. Dual Smartwatch Companion Apps</a:t>
            </a:r>
          </a:p>
          <a:p>
            <a:pPr>
              <a:defRPr sz="900">
                <a:solidFill>
                  <a:srgbClr val="E8EAED"/>
                </a:solidFill>
                <a:latin typeface="Google Sans Flex"/>
              </a:defRPr>
            </a:pPr>
            <a:r>
              <a:t>Native Wear OS (Compose) &amp; Apple Watch (SwiftUI / watchOS 9.0+) apps with circular tactical HUD, Taptic/vibrator haptics, WCSession sync, and one-tap reverse siren mute.</a:t>
            </a:r>
          </a:p>
        </p:txBody>
      </p:sp>
      <p:sp>
        <p:nvSpPr>
          <p:cNvPr id="90" name="Rounded Rectangle 89"/>
          <p:cNvSpPr/>
          <p:nvPr/>
        </p:nvSpPr>
        <p:spPr>
          <a:xfrm>
            <a:off x="36576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3. Multimodal Photo Forensics (Gemini 3.8 Flash)</a:t>
            </a:r>
          </a:p>
          <a:p>
            <a:pPr>
              <a:defRPr sz="900">
                <a:solidFill>
                  <a:srgbClr val="E8EAED"/>
                </a:solidFill>
                <a:latin typeface="Google Sans Flex"/>
              </a:defRPr>
            </a:pPr>
            <a:r>
              <a:t>Google Gemini 3.8 Flash sub-1s automated triage: species classification, fruit ripening maturity, and carcass forensic decay analysis (Fresh/Moderate/Advanced).</a:t>
            </a:r>
          </a:p>
        </p:txBody>
      </p:sp>
      <p:sp>
        <p:nvSpPr>
          <p:cNvPr id="91" name="Rounded Rectangle 90"/>
          <p:cNvSpPr/>
          <p:nvPr/>
        </p:nvSpPr>
        <p:spPr>
          <a:xfrm>
            <a:off x="466344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4. Predictive Attractant Maps</a:t>
            </a:r>
          </a:p>
          <a:p>
            <a:pPr>
              <a:defRPr sz="900">
                <a:solidFill>
                  <a:srgbClr val="E8EAED"/>
                </a:solidFill>
                <a:latin typeface="Google Sans Flex"/>
              </a:defRPr>
            </a:pPr>
            <a:r>
              <a:t>Interactive GIS layers for Sugarcane Phenology, Domestic Livestock Corrals, and 72-hour Tiger Kill-Site Caching alert perimeters.</a:t>
            </a:r>
          </a:p>
        </p:txBody>
      </p:sp>
      <p:sp>
        <p:nvSpPr>
          <p:cNvPr id="92" name="Rounded Rectangle 91"/>
          <p:cNvSpPr/>
          <p:nvPr/>
        </p:nvSpPr>
        <p:spPr>
          <a:xfrm>
            <a:off x="36576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5. JAPAC Operations Admin Console</a:t>
            </a:r>
          </a:p>
          <a:p>
            <a:pPr>
              <a:defRPr sz="900">
                <a:solidFill>
                  <a:srgbClr val="E8EAED"/>
                </a:solidFill>
                <a:latin typeface="Google Sans Flex"/>
              </a:defRPr>
            </a:pPr>
            <a:r>
              <a:t>Angular 22 portal with Google Maps JS API, 2-column Map-Picker tabs, manual circle/polygon geofence overrides, and GCS multi-photo uploads.</a:t>
            </a:r>
          </a:p>
        </p:txBody>
      </p:sp>
      <p:sp>
        <p:nvSpPr>
          <p:cNvPr id="93" name="Rounded Rectangle 92"/>
          <p:cNvSpPr/>
          <p:nvPr/>
        </p:nvSpPr>
        <p:spPr>
          <a:xfrm>
            <a:off x="466344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150" b="1">
                <a:solidFill>
                  <a:srgbClr val="8AB4F8"/>
                </a:solidFill>
                <a:latin typeface="Google Sans Flex"/>
              </a:defRPr>
            </a:pPr>
            <a:r>
              <a:t>6. Enterprise GIS &amp; Continuous Retraining</a:t>
            </a:r>
          </a:p>
          <a:p>
            <a:pPr>
              <a:defRPr sz="900">
                <a:solidFill>
                  <a:srgbClr val="E8EAED"/>
                </a:solidFill>
                <a:latin typeface="Google Sans Flex"/>
              </a:defRPr>
            </a:pPr>
            <a:r>
              <a:t>Automated streaming of confirmed incidents to BigQuery GIS lake, Cloud Run ML retraining jobs, and RFC 7946 GeoJSON/CSV exports.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Process flow diagram or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365760" y="1115568"/>
            <a:ext cx="1536192" cy="2057400"/>
          </a:xfrm>
          <a:prstGeom prst="roundRect">
            <a:avLst/>
          </a:prstGeom>
          <a:solidFill>
            <a:srgbClr val="181A20"/>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spcAft>
                <a:spcPts val="200"/>
              </a:spcAft>
              <a:defRPr sz="850" b="1">
                <a:solidFill>
                  <a:srgbClr val="8AB4F8"/>
                </a:solidFill>
                <a:latin typeface="Google Sans Flex"/>
              </a:defRPr>
            </a:pPr>
            <a:r>
              <a:t>STAGE 1: INGESTION</a:t>
            </a:r>
          </a:p>
          <a:p>
            <a:pPr>
              <a:spcAft>
                <a:spcPts val="400"/>
              </a:spcAft>
              <a:defRPr sz="800" b="1">
                <a:solidFill>
                  <a:srgbClr val="FFFFFF"/>
                </a:solidFill>
                <a:latin typeface="Google Sans Flex"/>
              </a:defRPr>
            </a:pPr>
            <a:r>
              <a:t>Multi-Source Causal</a:t>
            </a:r>
          </a:p>
          <a:p>
            <a:pPr>
              <a:spcAft>
                <a:spcPts val="200"/>
              </a:spcAft>
              <a:defRPr sz="750">
                <a:solidFill>
                  <a:srgbClr val="BDC1C6"/>
                </a:solidFill>
                <a:latin typeface="Google Sans Flex"/>
              </a:defRPr>
            </a:pPr>
            <a:r>
              <a:t>• NASA FIRMS (Fires)</a:t>
            </a:r>
          </a:p>
          <a:p>
            <a:pPr>
              <a:spcAft>
                <a:spcPts val="200"/>
              </a:spcAft>
              <a:defRPr sz="750">
                <a:solidFill>
                  <a:srgbClr val="BDC1C6"/>
                </a:solidFill>
                <a:latin typeface="Google Sans Flex"/>
              </a:defRPr>
            </a:pPr>
            <a:r>
              <a:t>• Open-Meteo Weather</a:t>
            </a:r>
          </a:p>
          <a:p>
            <a:pPr>
              <a:spcAft>
                <a:spcPts val="200"/>
              </a:spcAft>
              <a:defRPr sz="750">
                <a:solidFill>
                  <a:srgbClr val="BDC1C6"/>
                </a:solidFill>
                <a:latin typeface="Google Sans Flex"/>
              </a:defRPr>
            </a:pPr>
            <a:r>
              <a:t>• Crop Ripening Phenology</a:t>
            </a:r>
          </a:p>
          <a:p>
            <a:pPr>
              <a:spcAft>
                <a:spcPts val="200"/>
              </a:spcAft>
              <a:defRPr sz="750">
                <a:solidFill>
                  <a:srgbClr val="BDC1C6"/>
                </a:solidFill>
                <a:latin typeface="Google Sans Flex"/>
              </a:defRPr>
            </a:pPr>
            <a:r>
              <a:t>• Road Traffic Feeds</a:t>
            </a:r>
          </a:p>
          <a:p>
            <a:pPr>
              <a:spcAft>
                <a:spcPts val="200"/>
              </a:spcAft>
              <a:defRPr sz="750">
                <a:solidFill>
                  <a:srgbClr val="BDC1C6"/>
                </a:solidFill>
                <a:latin typeface="Google Sans Flex"/>
              </a:defRPr>
            </a:pPr>
            <a:r>
              <a:t>• Citizen Sightings &amp; Logs</a:t>
            </a:r>
          </a:p>
        </p:txBody>
      </p:sp>
      <p:sp>
        <p:nvSpPr>
          <p:cNvPr id="97" name="Right Arrow 96"/>
          <p:cNvSpPr/>
          <p:nvPr/>
        </p:nvSpPr>
        <p:spPr>
          <a:xfrm>
            <a:off x="1929384" y="2029968"/>
            <a:ext cx="128016" cy="182880"/>
          </a:xfrm>
          <a:prstGeom prst="rightArrow">
            <a:avLst/>
          </a:prstGeom>
          <a:solidFill>
            <a:srgbClr val="8AB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2084832" y="1115568"/>
            <a:ext cx="1536192" cy="2057400"/>
          </a:xfrm>
          <a:prstGeom prst="roundRect">
            <a:avLst/>
          </a:prstGeom>
          <a:solidFill>
            <a:srgbClr val="181A20"/>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spcAft>
                <a:spcPts val="200"/>
              </a:spcAft>
              <a:defRPr sz="850" b="1">
                <a:solidFill>
                  <a:srgbClr val="81C995"/>
                </a:solidFill>
                <a:latin typeface="Google Sans Flex"/>
              </a:defRPr>
            </a:pPr>
            <a:r>
              <a:t>STAGE 2: FORENSICS</a:t>
            </a:r>
          </a:p>
          <a:p>
            <a:pPr>
              <a:spcAft>
                <a:spcPts val="400"/>
              </a:spcAft>
              <a:defRPr sz="800" b="1">
                <a:solidFill>
                  <a:srgbClr val="FFFFFF"/>
                </a:solidFill>
                <a:latin typeface="Google Sans Flex"/>
              </a:defRPr>
            </a:pPr>
            <a:r>
              <a:t>Gemini 3.8 Flash</a:t>
            </a:r>
          </a:p>
          <a:p>
            <a:pPr>
              <a:spcAft>
                <a:spcPts val="200"/>
              </a:spcAft>
              <a:defRPr sz="750">
                <a:solidFill>
                  <a:srgbClr val="BDC1C6"/>
                </a:solidFill>
                <a:latin typeface="Google Sans Flex"/>
              </a:defRPr>
            </a:pPr>
            <a:r>
              <a:t>• Multimodal Photo Triage</a:t>
            </a:r>
          </a:p>
          <a:p>
            <a:pPr>
              <a:spcAft>
                <a:spcPts val="200"/>
              </a:spcAft>
              <a:defRPr sz="750">
                <a:solidFill>
                  <a:srgbClr val="BDC1C6"/>
                </a:solidFill>
                <a:latin typeface="Google Sans Flex"/>
              </a:defRPr>
            </a:pPr>
            <a:r>
              <a:t>• Species Identification</a:t>
            </a:r>
          </a:p>
          <a:p>
            <a:pPr>
              <a:spcAft>
                <a:spcPts val="200"/>
              </a:spcAft>
              <a:defRPr sz="750">
                <a:solidFill>
                  <a:srgbClr val="BDC1C6"/>
                </a:solidFill>
                <a:latin typeface="Google Sans Flex"/>
              </a:defRPr>
            </a:pPr>
            <a:r>
              <a:t>• Fruit Ripeness Level</a:t>
            </a:r>
          </a:p>
          <a:p>
            <a:pPr>
              <a:spcAft>
                <a:spcPts val="200"/>
              </a:spcAft>
              <a:defRPr sz="750">
                <a:solidFill>
                  <a:srgbClr val="BDC1C6"/>
                </a:solidFill>
                <a:latin typeface="Google Sans Flex"/>
              </a:defRPr>
            </a:pPr>
            <a:r>
              <a:t>• Decay Stage Forensics</a:t>
            </a:r>
          </a:p>
          <a:p>
            <a:pPr>
              <a:spcAft>
                <a:spcPts val="200"/>
              </a:spcAft>
              <a:defRPr sz="750">
                <a:solidFill>
                  <a:srgbClr val="BDC1C6"/>
                </a:solidFill>
                <a:latin typeface="Google Sans Flex"/>
              </a:defRPr>
            </a:pPr>
            <a:r>
              <a:t>• Sub-1s JSON Schema Contract</a:t>
            </a:r>
          </a:p>
        </p:txBody>
      </p:sp>
      <p:sp>
        <p:nvSpPr>
          <p:cNvPr id="99" name="Right Arrow 98"/>
          <p:cNvSpPr/>
          <p:nvPr/>
        </p:nvSpPr>
        <p:spPr>
          <a:xfrm>
            <a:off x="3648456" y="2029968"/>
            <a:ext cx="128016" cy="182880"/>
          </a:xfrm>
          <a:prstGeom prst="rightArrow">
            <a:avLst/>
          </a:prstGeom>
          <a:solidFill>
            <a:srgbClr val="81C9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803904" y="1115568"/>
            <a:ext cx="1536192" cy="2057400"/>
          </a:xfrm>
          <a:prstGeom prst="roundRect">
            <a:avLst/>
          </a:prstGeom>
          <a:solidFill>
            <a:srgbClr val="181A20"/>
          </a:solidFill>
          <a:ln w="12700">
            <a:solidFill>
              <a:srgbClr val="FBBC04"/>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spcAft>
                <a:spcPts val="200"/>
              </a:spcAft>
              <a:defRPr sz="850" b="1">
                <a:solidFill>
                  <a:srgbClr val="FDD663"/>
                </a:solidFill>
                <a:latin typeface="Google Sans Flex"/>
              </a:defRPr>
            </a:pPr>
            <a:r>
              <a:t>STAGE 3: INFERENCE</a:t>
            </a:r>
          </a:p>
          <a:p>
            <a:pPr>
              <a:spcAft>
                <a:spcPts val="400"/>
              </a:spcAft>
              <a:defRPr sz="800" b="1">
                <a:solidFill>
                  <a:srgbClr val="FFFFFF"/>
                </a:solidFill>
                <a:latin typeface="Google Sans Flex"/>
              </a:defRPr>
            </a:pPr>
            <a:r>
              <a:t>Cloud Run Engine</a:t>
            </a:r>
          </a:p>
          <a:p>
            <a:pPr>
              <a:spcAft>
                <a:spcPts val="200"/>
              </a:spcAft>
              <a:defRPr sz="750">
                <a:solidFill>
                  <a:srgbClr val="BDC1C6"/>
                </a:solidFill>
                <a:latin typeface="Google Sans Flex"/>
              </a:defRPr>
            </a:pPr>
            <a:r>
              <a:t>• Sub-10ms Go Microservice</a:t>
            </a:r>
          </a:p>
          <a:p>
            <a:pPr>
              <a:spcAft>
                <a:spcPts val="200"/>
              </a:spcAft>
              <a:defRPr sz="750">
                <a:solidFill>
                  <a:srgbClr val="BDC1C6"/>
                </a:solidFill>
                <a:latin typeface="Google Sans Flex"/>
              </a:defRPr>
            </a:pPr>
            <a:r>
              <a:t>• Geospatial Spatial Joins</a:t>
            </a:r>
          </a:p>
          <a:p>
            <a:pPr>
              <a:spcAft>
                <a:spcPts val="200"/>
              </a:spcAft>
              <a:defRPr sz="750">
                <a:solidFill>
                  <a:srgbClr val="BDC1C6"/>
                </a:solidFill>
                <a:latin typeface="Google Sans Flex"/>
              </a:defRPr>
            </a:pPr>
            <a:r>
              <a:t>• Dynamic Risk Weighting</a:t>
            </a:r>
          </a:p>
          <a:p>
            <a:pPr>
              <a:spcAft>
                <a:spcPts val="200"/>
              </a:spcAft>
              <a:defRPr sz="750">
                <a:solidFill>
                  <a:srgbClr val="BDC1C6"/>
                </a:solidFill>
                <a:latin typeface="Google Sans Flex"/>
              </a:defRPr>
            </a:pPr>
            <a:r>
              <a:t>• H3 Hexagonal Grid Index</a:t>
            </a:r>
          </a:p>
          <a:p>
            <a:pPr>
              <a:spcAft>
                <a:spcPts val="200"/>
              </a:spcAft>
              <a:defRPr sz="750">
                <a:solidFill>
                  <a:srgbClr val="BDC1C6"/>
                </a:solidFill>
                <a:latin typeface="Google Sans Flex"/>
              </a:defRPr>
            </a:pPr>
            <a:r>
              <a:t>• 3-Tier Danger Polygons</a:t>
            </a:r>
          </a:p>
        </p:txBody>
      </p:sp>
      <p:sp>
        <p:nvSpPr>
          <p:cNvPr id="101" name="Right Arrow 100"/>
          <p:cNvSpPr/>
          <p:nvPr/>
        </p:nvSpPr>
        <p:spPr>
          <a:xfrm>
            <a:off x="5367528" y="2029968"/>
            <a:ext cx="128016" cy="182880"/>
          </a:xfrm>
          <a:prstGeom prst="rightArrow">
            <a:avLst/>
          </a:prstGeom>
          <a:solidFill>
            <a:srgbClr val="FDD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5522976" y="1115568"/>
            <a:ext cx="1536192" cy="2057400"/>
          </a:xfrm>
          <a:prstGeom prst="roundRect">
            <a:avLst/>
          </a:prstGeom>
          <a:solidFill>
            <a:srgbClr val="181A20"/>
          </a:solidFill>
          <a:ln w="1270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spcAft>
                <a:spcPts val="200"/>
              </a:spcAft>
              <a:defRPr sz="850" b="1">
                <a:solidFill>
                  <a:srgbClr val="F28B82"/>
                </a:solidFill>
                <a:latin typeface="Google Sans Flex"/>
              </a:defRPr>
            </a:pPr>
            <a:r>
              <a:t>STAGE 4: EDGE ALERT</a:t>
            </a:r>
          </a:p>
          <a:p>
            <a:pPr>
              <a:spcAft>
                <a:spcPts val="400"/>
              </a:spcAft>
              <a:defRPr sz="800" b="1">
                <a:solidFill>
                  <a:srgbClr val="FFFFFF"/>
                </a:solidFill>
                <a:latin typeface="Google Sans Flex"/>
              </a:defRPr>
            </a:pPr>
            <a:r>
              <a:t>Dual Wearables &amp; HUD</a:t>
            </a:r>
          </a:p>
          <a:p>
            <a:pPr>
              <a:spcAft>
                <a:spcPts val="200"/>
              </a:spcAft>
              <a:defRPr sz="750">
                <a:solidFill>
                  <a:srgbClr val="BDC1C6"/>
                </a:solidFill>
                <a:latin typeface="Google Sans Flex"/>
              </a:defRPr>
            </a:pPr>
            <a:r>
              <a:t>• &lt;45ms Alert Propagation</a:t>
            </a:r>
          </a:p>
          <a:p>
            <a:pPr>
              <a:spcAft>
                <a:spcPts val="200"/>
              </a:spcAft>
              <a:defRPr sz="750">
                <a:solidFill>
                  <a:srgbClr val="BDC1C6"/>
                </a:solidFill>
                <a:latin typeface="Google Sans Flex"/>
              </a:defRPr>
            </a:pPr>
            <a:r>
              <a:t>• Wear OS Pulse Waveforms</a:t>
            </a:r>
          </a:p>
          <a:p>
            <a:pPr>
              <a:spcAft>
                <a:spcPts val="200"/>
              </a:spcAft>
              <a:defRPr sz="750">
                <a:solidFill>
                  <a:srgbClr val="BDC1C6"/>
                </a:solidFill>
                <a:latin typeface="Google Sans Flex"/>
              </a:defRPr>
            </a:pPr>
            <a:r>
              <a:t>• Apple Watch Taptic SOS</a:t>
            </a:r>
          </a:p>
          <a:p>
            <a:pPr>
              <a:spcAft>
                <a:spcPts val="200"/>
              </a:spcAft>
              <a:defRPr sz="750">
                <a:solidFill>
                  <a:srgbClr val="BDC1C6"/>
                </a:solidFill>
                <a:latin typeface="Google Sans Flex"/>
              </a:defRPr>
            </a:pPr>
            <a:r>
              <a:t>• 3-Tier Radar Mobile HUD</a:t>
            </a:r>
          </a:p>
          <a:p>
            <a:pPr>
              <a:spcAft>
                <a:spcPts val="200"/>
              </a:spcAft>
              <a:defRPr sz="750">
                <a:solidFill>
                  <a:srgbClr val="BDC1C6"/>
                </a:solidFill>
                <a:latin typeface="Google Sans Flex"/>
              </a:defRPr>
            </a:pPr>
            <a:r>
              <a:t>• Foldable Wide Map Sync</a:t>
            </a:r>
          </a:p>
        </p:txBody>
      </p:sp>
      <p:sp>
        <p:nvSpPr>
          <p:cNvPr id="103" name="Right Arrow 102"/>
          <p:cNvSpPr/>
          <p:nvPr/>
        </p:nvSpPr>
        <p:spPr>
          <a:xfrm>
            <a:off x="7086600" y="2029968"/>
            <a:ext cx="128016" cy="182880"/>
          </a:xfrm>
          <a:prstGeom prst="rightArrow">
            <a:avLst/>
          </a:prstGeom>
          <a:solidFill>
            <a:srgbClr val="F2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7242048" y="1115568"/>
            <a:ext cx="1536192" cy="2057400"/>
          </a:xfrm>
          <a:prstGeom prst="roundRect">
            <a:avLst/>
          </a:prstGeom>
          <a:solidFill>
            <a:srgbClr val="181A20"/>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spcAft>
                <a:spcPts val="200"/>
              </a:spcAft>
              <a:defRPr sz="850" b="1">
                <a:solidFill>
                  <a:srgbClr val="8AB4F8"/>
                </a:solidFill>
                <a:latin typeface="Google Sans Flex"/>
              </a:defRPr>
            </a:pPr>
            <a:r>
              <a:t>STAGE 5: MITIGATION</a:t>
            </a:r>
          </a:p>
          <a:p>
            <a:pPr>
              <a:spcAft>
                <a:spcPts val="400"/>
              </a:spcAft>
              <a:defRPr sz="800" b="1">
                <a:solidFill>
                  <a:srgbClr val="FFFFFF"/>
                </a:solidFill>
                <a:latin typeface="Google Sans Flex"/>
              </a:defRPr>
            </a:pPr>
            <a:r>
              <a:t>Closed-Loop Action</a:t>
            </a:r>
          </a:p>
          <a:p>
            <a:pPr>
              <a:spcAft>
                <a:spcPts val="200"/>
              </a:spcAft>
              <a:defRPr sz="750">
                <a:solidFill>
                  <a:srgbClr val="BDC1C6"/>
                </a:solidFill>
                <a:latin typeface="Google Sans Flex"/>
              </a:defRPr>
            </a:pPr>
            <a:r>
              <a:t>• Ranger Incident Dispatch</a:t>
            </a:r>
          </a:p>
          <a:p>
            <a:pPr>
              <a:spcAft>
                <a:spcPts val="200"/>
              </a:spcAft>
              <a:defRPr sz="750">
                <a:solidFill>
                  <a:srgbClr val="BDC1C6"/>
                </a:solidFill>
                <a:latin typeface="Google Sans Flex"/>
              </a:defRPr>
            </a:pPr>
            <a:r>
              <a:t>• Roadside Carcass Cleared</a:t>
            </a:r>
          </a:p>
          <a:p>
            <a:pPr>
              <a:spcAft>
                <a:spcPts val="200"/>
              </a:spcAft>
              <a:defRPr sz="750">
                <a:solidFill>
                  <a:srgbClr val="BDC1C6"/>
                </a:solidFill>
                <a:latin typeface="Google Sans Flex"/>
              </a:defRPr>
            </a:pPr>
            <a:r>
              <a:t>• Fruit Harvest Scheduled</a:t>
            </a:r>
          </a:p>
          <a:p>
            <a:pPr>
              <a:spcAft>
                <a:spcPts val="200"/>
              </a:spcAft>
              <a:defRPr sz="750">
                <a:solidFill>
                  <a:srgbClr val="BDC1C6"/>
                </a:solidFill>
                <a:latin typeface="Google Sans Flex"/>
              </a:defRPr>
            </a:pPr>
            <a:r>
              <a:t>• BigQuery GIS Feedback</a:t>
            </a:r>
          </a:p>
          <a:p>
            <a:pPr>
              <a:spcAft>
                <a:spcPts val="200"/>
              </a:spcAft>
              <a:defRPr sz="750">
                <a:solidFill>
                  <a:srgbClr val="BDC1C6"/>
                </a:solidFill>
                <a:latin typeface="Google Sans Flex"/>
              </a:defRPr>
            </a:pPr>
            <a:r>
              <a:t>• Continuous Retraining</a:t>
            </a:r>
          </a:p>
        </p:txBody>
      </p:sp>
      <p:sp>
        <p:nvSpPr>
          <p:cNvPr id="105" name="Rounded Rectangle 104"/>
          <p:cNvSpPr/>
          <p:nvPr/>
        </p:nvSpPr>
        <p:spPr>
          <a:xfrm>
            <a:off x="365760" y="3291840"/>
            <a:ext cx="8412480" cy="169164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600"/>
              </a:spcAft>
              <a:defRPr sz="1100" b="1">
                <a:solidFill>
                  <a:srgbClr val="FFFFFF"/>
                </a:solidFill>
                <a:latin typeface="Google Sans Flex"/>
              </a:defRPr>
            </a:pPr>
            <a:r>
              <a:t>Multi-Actor Use-Case Scenarios &amp; Incident Lifecycle Execution</a:t>
            </a:r>
          </a:p>
          <a:p>
            <a:pPr>
              <a:spcAft>
                <a:spcPts val="300"/>
              </a:spcAft>
            </a:pPr>
            <a:r>
              <a:rPr b="1" sz="850">
                <a:solidFill>
                  <a:srgbClr val="FDD663"/>
                </a:solidFill>
              </a:rPr>
              <a:t>• Field Harvester / Worker (Mobile &amp; Smartwatch): </a:t>
            </a:r>
            <a:r>
              <a:rPr sz="819">
                <a:solidFill>
                  <a:srgbClr val="E8EAED"/>
                </a:solidFill>
              </a:rPr>
              <a:t>Enters fringe concession ➔ Wear OS / Apple Watch vibrates with escalating Tier 2 pulses ➔ Eyes-free awareness ➔ Safe detour taken ➔ ZERO FATAL ENCOUNTERS.</a:t>
            </a:r>
          </a:p>
          <a:p>
            <a:pPr>
              <a:spcAft>
                <a:spcPts val="300"/>
              </a:spcAft>
            </a:pPr>
            <a:r>
              <a:rPr b="1" sz="850">
                <a:solidFill>
                  <a:srgbClr val="FDD663"/>
                </a:solidFill>
              </a:rPr>
              <a:t>• Municipal Officer / Ranger (Web Admin Console): </a:t>
            </a:r>
            <a:r>
              <a:rPr sz="819">
                <a:solidFill>
                  <a:srgbClr val="E8EAED"/>
                </a:solidFill>
              </a:rPr>
              <a:t>Citizen logs ripe unharvested fruit cluster ➔ Gemini 3.8 Flash validates attractant in &lt;1s ➔ Prioritized clearing order dispatched before nocturnal foraging begins.</a:t>
            </a:r>
          </a:p>
          <a:p>
            <a:pPr>
              <a:spcAft>
                <a:spcPts val="300"/>
              </a:spcAft>
            </a:pPr>
            <a:r>
              <a:rPr b="1" sz="850">
                <a:solidFill>
                  <a:srgbClr val="FDD663"/>
                </a:solidFill>
              </a:rPr>
              <a:t>• Autonomous AI Agent (Continuous Learning Loop): </a:t>
            </a:r>
            <a:r>
              <a:rPr sz="819">
                <a:solidFill>
                  <a:srgbClr val="E8EAED"/>
                </a:solidFill>
              </a:rPr>
              <a:t>New sightings and meteorological shifts automatically streamed to BigQuery GIS lake ➔ ML model retrained on Cloud Run Jobs ➔ Geofence polygons recalculated.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365760" y="123444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spcAft>
                <a:spcPts val="600"/>
              </a:spcAft>
              <a:defRPr sz="1200" b="1">
                <a:solidFill>
                  <a:srgbClr val="81C995"/>
                </a:solidFill>
                <a:latin typeface="Google Sans Flex"/>
              </a:defRPr>
            </a:pPr>
            <a:r>
              <a:t>Mobile Field App (PWA)</a:t>
            </a:r>
          </a:p>
          <a:p>
            <a:pPr>
              <a:defRPr sz="950">
                <a:solidFill>
                  <a:srgbClr val="BDC1C6"/>
                </a:solidFill>
                <a:latin typeface="Google Sans Flex"/>
              </a:defRPr>
            </a:pPr>
            <a:r>
              <a:t>3-Tier Alert HUD, Slippy Dark Canvas GIS raster map with dynamic clustering, and multimodal camera capture.</a:t>
            </a:r>
          </a:p>
        </p:txBody>
      </p:sp>
      <p:sp>
        <p:nvSpPr>
          <p:cNvPr id="105" name="Rounded Rectangle 104"/>
          <p:cNvSpPr/>
          <p:nvPr/>
        </p:nvSpPr>
        <p:spPr>
          <a:xfrm>
            <a:off x="4663440" y="123444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spcAft>
                <a:spcPts val="600"/>
              </a:spcAft>
              <a:defRPr sz="1200" b="1">
                <a:solidFill>
                  <a:srgbClr val="81C995"/>
                </a:solidFill>
                <a:latin typeface="Google Sans Flex"/>
              </a:defRPr>
            </a:pPr>
            <a:r>
              <a:t>Wear OS Tactical HUD</a:t>
            </a:r>
          </a:p>
          <a:p>
            <a:pPr>
              <a:defRPr sz="950">
                <a:solidFill>
                  <a:srgbClr val="BDC1C6"/>
                </a:solidFill>
                <a:latin typeface="Google Sans Flex"/>
              </a:defRPr>
            </a:pPr>
            <a:r>
              <a:t>Circular AMOLED radial glow, distance meter, and tactical radar ring designed for extreme field conditions.</a:t>
            </a:r>
          </a:p>
        </p:txBody>
      </p:sp>
      <p:sp>
        <p:nvSpPr>
          <p:cNvPr id="106" name="Rounded Rectangle 105"/>
          <p:cNvSpPr/>
          <p:nvPr/>
        </p:nvSpPr>
        <p:spPr>
          <a:xfrm>
            <a:off x="365760" y="301752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spcAft>
                <a:spcPts val="600"/>
              </a:spcAft>
              <a:defRPr sz="1200" b="1">
                <a:solidFill>
                  <a:srgbClr val="81C995"/>
                </a:solidFill>
                <a:latin typeface="Google Sans Flex"/>
              </a:defRPr>
            </a:pPr>
            <a:r>
              <a:t>Apple Watch Companion</a:t>
            </a:r>
          </a:p>
          <a:p>
            <a:pPr>
              <a:defRPr sz="950">
                <a:solidFill>
                  <a:srgbClr val="BDC1C6"/>
                </a:solidFill>
                <a:latin typeface="Google Sans Flex"/>
              </a:defRPr>
            </a:pPr>
            <a:r>
              <a:t>watchOS 9.0+ SwiftUI app with WCSession sync, directional Taptic pulses, and one-tap siren cancel.</a:t>
            </a:r>
          </a:p>
        </p:txBody>
      </p:sp>
      <p:sp>
        <p:nvSpPr>
          <p:cNvPr id="107" name="Rounded Rectangle 106"/>
          <p:cNvSpPr/>
          <p:nvPr/>
        </p:nvSpPr>
        <p:spPr>
          <a:xfrm>
            <a:off x="4663440" y="301752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spcAft>
                <a:spcPts val="600"/>
              </a:spcAft>
              <a:defRPr sz="1200" b="1">
                <a:solidFill>
                  <a:srgbClr val="81C995"/>
                </a:solidFill>
                <a:latin typeface="Google Sans Flex"/>
              </a:defRPr>
            </a:pPr>
            <a:r>
              <a:t>Operations Admin Portal</a:t>
            </a:r>
          </a:p>
          <a:p>
            <a:pPr>
              <a:defRPr sz="950">
                <a:solidFill>
                  <a:srgbClr val="BDC1C6"/>
                </a:solidFill>
                <a:latin typeface="Google Sans Flex"/>
              </a:defRPr>
            </a:pPr>
            <a:r>
              <a:t>JAPAC full-theater Google Maps operations console with manual geofencing tools, category wizards, and live stats.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65760" y="1234440"/>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8AB4F8"/>
                </a:solidFill>
                <a:latin typeface="Google Sans Flex"/>
              </a:defRPr>
            </a:pPr>
            <a:r>
              <a:t>Layer 1: Multi-Surface Client Experience</a:t>
            </a:r>
          </a:p>
          <a:p>
            <a:pPr>
              <a:defRPr sz="850">
                <a:solidFill>
                  <a:srgbClr val="E8EAED"/>
                </a:solidFill>
                <a:latin typeface="Google Sans Flex"/>
              </a:defRPr>
            </a:pPr>
            <a:r>
              <a:t>• Field Mobile / Tablet: Kotlin Multiplatform &amp; Compose (:composeApp) + Ionic/Capacitor PWA (:ionic-app with foldable dual-screen posture)</a:t>
            </a:r>
          </a:p>
          <a:p>
            <a:pPr>
              <a:defRPr sz="850">
                <a:solidFill>
                  <a:srgbClr val="E8EAED"/>
                </a:solidFill>
                <a:latin typeface="Google Sans Flex"/>
              </a:defRPr>
            </a:pPr>
            <a:r>
              <a:t>• Dual Smartwatch Companions: Wear OS (:wearApp / Compose) &amp; Apple Watch (:watchApp / SwiftUI, WCSession, Taptic Engine)</a:t>
            </a:r>
          </a:p>
          <a:p>
            <a:pPr>
              <a:defRPr sz="850">
                <a:solidFill>
                  <a:srgbClr val="E8EAED"/>
                </a:solidFill>
                <a:latin typeface="Google Sans Flex"/>
              </a:defRPr>
            </a:pPr>
            <a:r>
              <a:t>• Web Admin Operations: Angular 22 high-density desktop console with Google Maps JS API</a:t>
            </a:r>
          </a:p>
        </p:txBody>
      </p:sp>
      <p:sp>
        <p:nvSpPr>
          <p:cNvPr id="113" name="Rounded Rectangle 112"/>
          <p:cNvSpPr/>
          <p:nvPr/>
        </p:nvSpPr>
        <p:spPr>
          <a:xfrm>
            <a:off x="365760" y="2130552"/>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81C995"/>
                </a:solidFill>
                <a:latin typeface="Google Sans Flex"/>
              </a:defRPr>
            </a:pPr>
            <a:r>
              <a:t>Layer 2: Serverless Microservices &amp; Edge Intelligence</a:t>
            </a:r>
          </a:p>
          <a:p>
            <a:pPr>
              <a:defRPr sz="850">
                <a:solidFill>
                  <a:srgbClr val="E8EAED"/>
                </a:solidFill>
                <a:latin typeface="Google Sans Flex"/>
              </a:defRPr>
            </a:pPr>
            <a:r>
              <a:t>• Google Cloud Run: Go 1.24 ultra-lightweight distroless container with CPU boost &amp; async hydration (&lt;10ms cold start)</a:t>
            </a:r>
          </a:p>
          <a:p>
            <a:pPr>
              <a:defRPr sz="850">
                <a:solidFill>
                  <a:srgbClr val="E8EAED"/>
                </a:solidFill>
                <a:latin typeface="Google Sans Flex"/>
              </a:defRPr>
            </a:pPr>
            <a:r>
              <a:t>• Google Gemini 3.8 Flash: Sub-1s multimodal photo triage with zero-syntax Structured JSON outputs</a:t>
            </a:r>
          </a:p>
          <a:p>
            <a:pPr>
              <a:defRPr sz="850">
                <a:solidFill>
                  <a:srgbClr val="E8EAED"/>
                </a:solidFill>
                <a:latin typeface="Google Sans Flex"/>
              </a:defRPr>
            </a:pPr>
            <a:r>
              <a:t>• Dynamic Geofencing Engine: Geospatial danger polygon calculation &amp; turf.js spatial intersections</a:t>
            </a:r>
          </a:p>
        </p:txBody>
      </p:sp>
      <p:sp>
        <p:nvSpPr>
          <p:cNvPr id="114" name="Rounded Rectangle 113"/>
          <p:cNvSpPr/>
          <p:nvPr/>
        </p:nvSpPr>
        <p:spPr>
          <a:xfrm>
            <a:off x="365760" y="3026664"/>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FDD663"/>
                </a:solidFill>
                <a:latin typeface="Google Sans Flex"/>
              </a:defRPr>
            </a:pPr>
            <a:r>
              <a:t>Layer 3: Cloud Storage &amp; Spatio-Temporal Big Data</a:t>
            </a:r>
          </a:p>
          <a:p>
            <a:pPr>
              <a:defRPr sz="850">
                <a:solidFill>
                  <a:srgbClr val="E8EAED"/>
                </a:solidFill>
                <a:latin typeface="Google Sans Flex"/>
              </a:defRPr>
            </a:pPr>
            <a:r>
              <a:t>• Cloud Firestore: Low-latency NoSQL database with 3-Role RBAC security rules and offline queue sync</a:t>
            </a:r>
          </a:p>
          <a:p>
            <a:pPr>
              <a:defRPr sz="850">
                <a:solidFill>
                  <a:srgbClr val="E8EAED"/>
                </a:solidFill>
                <a:latin typeface="Google Sans Flex"/>
              </a:defRPr>
            </a:pPr>
            <a:r>
              <a:t>• Google Cloud Storage: Secure media bucket (corald-coexistshield-media) for forensic field attachments</a:t>
            </a:r>
          </a:p>
          <a:p>
            <a:pPr>
              <a:defRPr sz="850">
                <a:solidFill>
                  <a:srgbClr val="E8EAED"/>
                </a:solidFill>
                <a:latin typeface="Google Sans Flex"/>
              </a:defRPr>
            </a:pPr>
            <a:r>
              <a:t>• BigQuery GIS: Spatio-temporal event stream for continuous ML model retraining and spatial queries</a:t>
            </a:r>
          </a:p>
        </p:txBody>
      </p:sp>
      <p:sp>
        <p:nvSpPr>
          <p:cNvPr id="115" name="Rounded Rectangle 114"/>
          <p:cNvSpPr/>
          <p:nvPr/>
        </p:nvSpPr>
        <p:spPr>
          <a:xfrm>
            <a:off x="365760" y="3922776"/>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F28B82"/>
                </a:solidFill>
                <a:latin typeface="Google Sans Flex"/>
              </a:defRPr>
            </a:pPr>
            <a:r>
              <a:t>Layer 4: External Causal Environmental Ingestion</a:t>
            </a:r>
          </a:p>
          <a:p>
            <a:pPr>
              <a:defRPr sz="850">
                <a:solidFill>
                  <a:srgbClr val="E8EAED"/>
                </a:solidFill>
                <a:latin typeface="Google Sans Flex"/>
              </a:defRPr>
            </a:pPr>
            <a:r>
              <a:t>• Remote Sensing: NASA FIRMS thermal anomaly API (wildfires &amp; deforestation) &amp; Open-Meteo weather</a:t>
            </a:r>
          </a:p>
          <a:p>
            <a:pPr>
              <a:defRPr sz="850">
                <a:solidFill>
                  <a:srgbClr val="E8EAED"/>
                </a:solidFill>
                <a:latin typeface="Google Sans Flex"/>
              </a:defRPr>
            </a:pPr>
            <a:r>
              <a:t>• Ecological Baselines: GBIF species occurrence observations &amp; Grassroots NGO digitized patrol logs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65760" y="123444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150" b="1">
                <a:solidFill>
                  <a:srgbClr val="8AB4F8"/>
                </a:solidFill>
                <a:latin typeface="Google Sans Flex"/>
              </a:defRPr>
            </a:pPr>
            <a:r>
              <a:t>AI &amp; Machine Learning</a:t>
            </a:r>
          </a:p>
          <a:p>
            <a:pPr>
              <a:defRPr sz="850">
                <a:solidFill>
                  <a:srgbClr val="E8EAED"/>
                </a:solidFill>
                <a:latin typeface="Google Sans Flex"/>
              </a:defRPr>
            </a:pPr>
            <a:r>
              <a:t>• Google Gemini 3.8 Flash: Sub-1s multimodal photo triage (species, decay stage, fruit ripening) with Structured JSON outputs.</a:t>
            </a:r>
          </a:p>
          <a:p>
            <a:pPr>
              <a:defRPr sz="850">
                <a:solidFill>
                  <a:srgbClr val="E8EAED"/>
                </a:solidFill>
                <a:latin typeface="Google Sans Flex"/>
              </a:defRPr>
            </a:pPr>
            <a:r>
              <a:t>• Zero-Syntax Schema Contracts: Guaranteed JSON conformance via strict Gemini Structured Outputs schemas.</a:t>
            </a:r>
          </a:p>
          <a:p>
            <a:pPr>
              <a:defRPr sz="850">
                <a:solidFill>
                  <a:srgbClr val="E8EAED"/>
                </a:solidFill>
                <a:latin typeface="Google Sans Flex"/>
              </a:defRPr>
            </a:pPr>
            <a:r>
              <a:t>• BigQuery GIS &amp; ML: Spatial-temporal joins for autonomous retraining pipelines on Cloud Run Jobs.</a:t>
            </a:r>
          </a:p>
        </p:txBody>
      </p:sp>
      <p:sp>
        <p:nvSpPr>
          <p:cNvPr id="121" name="Rounded Rectangle 120"/>
          <p:cNvSpPr/>
          <p:nvPr/>
        </p:nvSpPr>
        <p:spPr>
          <a:xfrm>
            <a:off x="4663440" y="123444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150" b="1">
                <a:solidFill>
                  <a:srgbClr val="81C995"/>
                </a:solidFill>
                <a:latin typeface="Google Sans Flex"/>
              </a:defRPr>
            </a:pPr>
            <a:r>
              <a:t>Cloud Infrastructure</a:t>
            </a:r>
          </a:p>
          <a:p>
            <a:pPr>
              <a:defRPr sz="850">
                <a:solidFill>
                  <a:srgbClr val="E8EAED"/>
                </a:solidFill>
                <a:latin typeface="Google Sans Flex"/>
              </a:defRPr>
            </a:pPr>
            <a:r>
              <a:t>• Google Cloud Run (Go 1.24): Distroless container with CPU boost (&lt;10ms cold start), deployed in Singapore (asia-southeast1).</a:t>
            </a:r>
          </a:p>
          <a:p>
            <a:pPr>
              <a:defRPr sz="850">
                <a:solidFill>
                  <a:srgbClr val="E8EAED"/>
                </a:solidFill>
                <a:latin typeface="Google Sans Flex"/>
              </a:defRPr>
            </a:pPr>
            <a:r>
              <a:t>• Cloud Firestore &amp; GCS: Offline-capable NoSQL repository with 3-Role RBAC rules and media asset bucket.</a:t>
            </a:r>
          </a:p>
          <a:p>
            <a:pPr>
              <a:defRPr sz="850">
                <a:solidFill>
                  <a:srgbClr val="E8EAED"/>
                </a:solidFill>
                <a:latin typeface="Google Sans Flex"/>
              </a:defRPr>
            </a:pPr>
            <a:r>
              <a:t>• Terraform IaC: Declarative infrastructure provisioning for Firebase &amp; GCP environments.</a:t>
            </a:r>
          </a:p>
        </p:txBody>
      </p:sp>
      <p:sp>
        <p:nvSpPr>
          <p:cNvPr id="122" name="Rounded Rectangle 121"/>
          <p:cNvSpPr/>
          <p:nvPr/>
        </p:nvSpPr>
        <p:spPr>
          <a:xfrm>
            <a:off x="365760" y="301752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150" b="1">
                <a:solidFill>
                  <a:srgbClr val="FDD663"/>
                </a:solidFill>
                <a:latin typeface="Google Sans Flex"/>
              </a:defRPr>
            </a:pPr>
            <a:r>
              <a:t>Multiplatform &amp; Wearables</a:t>
            </a:r>
          </a:p>
          <a:p>
            <a:pPr>
              <a:defRPr sz="850">
                <a:solidFill>
                  <a:srgbClr val="E8EAED"/>
                </a:solidFill>
                <a:latin typeface="Google Sans Flex"/>
              </a:defRPr>
            </a:pPr>
            <a:r>
              <a:t>• Kotlin Multiplatform (KMP 2.1): Unified business logic and domain models shared across Android &amp; Web.</a:t>
            </a:r>
          </a:p>
          <a:p>
            <a:pPr>
              <a:defRPr sz="850">
                <a:solidFill>
                  <a:srgbClr val="E8EAED"/>
                </a:solidFill>
                <a:latin typeface="Google Sans Flex"/>
              </a:defRPr>
            </a:pPr>
            <a:r>
              <a:t>• Wear OS &amp; Apple Watch: Compose for Wear OS &amp; native SwiftUI watchOS 9.0+ app with Taptic Engine haptics.</a:t>
            </a:r>
          </a:p>
          <a:p>
            <a:pPr>
              <a:defRPr sz="850">
                <a:solidFill>
                  <a:srgbClr val="E8EAED"/>
                </a:solidFill>
                <a:latin typeface="Google Sans Flex"/>
              </a:defRPr>
            </a:pPr>
            <a:r>
              <a:t>• Angular 22 &amp; Google Maps JS: Enterprise operations portal with 2-column Map-Picker and category wizards.</a:t>
            </a:r>
          </a:p>
        </p:txBody>
      </p:sp>
      <p:sp>
        <p:nvSpPr>
          <p:cNvPr id="123" name="Rounded Rectangle 122"/>
          <p:cNvSpPr/>
          <p:nvPr/>
        </p:nvSpPr>
        <p:spPr>
          <a:xfrm>
            <a:off x="4663440" y="3017520"/>
            <a:ext cx="4114800" cy="164592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150" b="1">
                <a:solidFill>
                  <a:srgbClr val="F28B82"/>
                </a:solidFill>
                <a:latin typeface="Google Sans Flex"/>
              </a:defRPr>
            </a:pPr>
            <a:r>
              <a:t>Quality Assurance &amp; CI/CD</a:t>
            </a:r>
          </a:p>
          <a:p>
            <a:pPr>
              <a:defRPr sz="850">
                <a:solidFill>
                  <a:srgbClr val="E8EAED"/>
                </a:solidFill>
                <a:latin typeface="Google Sans Flex"/>
              </a:defRPr>
            </a:pPr>
            <a:r>
              <a:t>• GitHub Actions CI/CD: Automated multi-target testing (Go race detection, KMP JVM, Android APK build).</a:t>
            </a:r>
          </a:p>
          <a:p>
            <a:pPr>
              <a:defRPr sz="850">
                <a:solidFill>
                  <a:srgbClr val="E8EAED"/>
                </a:solidFill>
                <a:latin typeface="Google Sans Flex"/>
              </a:defRPr>
            </a:pPr>
            <a:r>
              <a:t>• Swift XCTest Suite: Automated testing for Apple Watch telemetry models and WCSession connectivity in watchApp.</a:t>
            </a:r>
          </a:p>
          <a:p>
            <a:pPr>
              <a:defRPr sz="850">
                <a:solidFill>
                  <a:srgbClr val="E8EAED"/>
                </a:solidFill>
                <a:latin typeface="Google Sans Flex"/>
              </a:defRPr>
            </a:pPr>
            <a:r>
              <a:t>• Playwright E2E Suite: Automated multi-viewport (Desktop &amp; Pixel 7 Mobile) Canvas rendering tests.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65760" y="1234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Cloud Run Microservices (Go 1.24)</a:t>
            </a:r>
          </a:p>
          <a:p>
            <a:r>
              <a:rPr b="1" sz="1100">
                <a:solidFill>
                  <a:srgbClr val="81C995"/>
                </a:solidFill>
              </a:rPr>
              <a:t>$35 – $85 / mo — </a:t>
            </a:r>
            <a:r>
              <a:rPr sz="850">
                <a:solidFill>
                  <a:srgbClr val="BDC1C6"/>
                </a:solidFill>
              </a:rPr>
              <a:t>Scales to zero when idle; sub-10ms CPU boost handles peak traffic bursts efficiently.</a:t>
            </a:r>
          </a:p>
        </p:txBody>
      </p:sp>
      <p:sp>
        <p:nvSpPr>
          <p:cNvPr id="129" name="Rounded Rectangle 128"/>
          <p:cNvSpPr/>
          <p:nvPr/>
        </p:nvSpPr>
        <p:spPr>
          <a:xfrm>
            <a:off x="4663440" y="1234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Google Gemini 3.8 Flash Inference</a:t>
            </a:r>
          </a:p>
          <a:p>
            <a:r>
              <a:rPr b="1" sz="1100">
                <a:solidFill>
                  <a:srgbClr val="81C995"/>
                </a:solidFill>
              </a:rPr>
              <a:t>$120 – $280 / mo — </a:t>
            </a:r>
            <a:r>
              <a:rPr sz="850">
                <a:solidFill>
                  <a:srgbClr val="BDC1C6"/>
                </a:solidFill>
              </a:rPr>
              <a:t>Pay-per-token multimodal pricing; strict structured schema outputs prevent wasted retries.</a:t>
            </a:r>
          </a:p>
        </p:txBody>
      </p:sp>
      <p:sp>
        <p:nvSpPr>
          <p:cNvPr id="130" name="Rounded Rectangle 129"/>
          <p:cNvSpPr/>
          <p:nvPr/>
        </p:nvSpPr>
        <p:spPr>
          <a:xfrm>
            <a:off x="365760" y="2377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Cloud Firestore &amp; Cloud Storage</a:t>
            </a:r>
          </a:p>
          <a:p>
            <a:r>
              <a:rPr b="1" sz="1100">
                <a:solidFill>
                  <a:srgbClr val="81C995"/>
                </a:solidFill>
              </a:rPr>
              <a:t>$45 – $110 / mo — </a:t>
            </a:r>
            <a:r>
              <a:rPr sz="850">
                <a:solidFill>
                  <a:srgbClr val="BDC1C6"/>
                </a:solidFill>
              </a:rPr>
              <a:t>Document reads/writes and multi-photo evidence attachments with lifecycle archiving.</a:t>
            </a:r>
          </a:p>
        </p:txBody>
      </p:sp>
      <p:sp>
        <p:nvSpPr>
          <p:cNvPr id="131" name="Rounded Rectangle 130"/>
          <p:cNvSpPr/>
          <p:nvPr/>
        </p:nvSpPr>
        <p:spPr>
          <a:xfrm>
            <a:off x="4663440" y="2377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BigQuery GIS &amp; Analytics ML Lake</a:t>
            </a:r>
          </a:p>
          <a:p>
            <a:r>
              <a:rPr b="1" sz="1100">
                <a:solidFill>
                  <a:srgbClr val="81C995"/>
                </a:solidFill>
              </a:rPr>
              <a:t>$80 – $180 / mo — </a:t>
            </a:r>
            <a:r>
              <a:rPr sz="850">
                <a:solidFill>
                  <a:srgbClr val="BDC1C6"/>
                </a:solidFill>
              </a:rPr>
              <a:t>Spatio-temporal streaming queries and periodic model retraining jobs.</a:t>
            </a:r>
          </a:p>
        </p:txBody>
      </p:sp>
      <p:sp>
        <p:nvSpPr>
          <p:cNvPr id="132" name="Rounded Rectangle 131"/>
          <p:cNvSpPr/>
          <p:nvPr/>
        </p:nvSpPr>
        <p:spPr>
          <a:xfrm>
            <a:off x="365760" y="3520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Multiplatform Store Registrations</a:t>
            </a:r>
          </a:p>
          <a:p>
            <a:r>
              <a:rPr b="1" sz="1100">
                <a:solidFill>
                  <a:srgbClr val="81C995"/>
                </a:solidFill>
              </a:rPr>
              <a:t>$124 / year — </a:t>
            </a:r>
            <a:r>
              <a:rPr sz="850">
                <a:solidFill>
                  <a:srgbClr val="BDC1C6"/>
                </a:solidFill>
              </a:rPr>
              <a:t>Google Play Developer Console ($25 one-time) and Apple Developer Program ($99/year).</a:t>
            </a:r>
          </a:p>
        </p:txBody>
      </p:sp>
      <p:sp>
        <p:nvSpPr>
          <p:cNvPr id="133" name="Rounded Rectangle 132"/>
          <p:cNvSpPr/>
          <p:nvPr/>
        </p:nvSpPr>
        <p:spPr>
          <a:xfrm>
            <a:off x="4663440" y="3520440"/>
            <a:ext cx="4114800" cy="10515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rIns="182880"/>
          <a:lstStyle/>
          <a:p>
            <a:pPr algn="ctr">
              <a:defRPr sz="1100" b="1">
                <a:solidFill>
                  <a:srgbClr val="FFFFFF"/>
                </a:solidFill>
                <a:latin typeface="Google Sans Flex"/>
              </a:defRPr>
            </a:pPr>
            <a:r>
              <a:t>IoT &amp; LoRaWAN Edge Gateways (Optional)</a:t>
            </a:r>
          </a:p>
          <a:p>
            <a:r>
              <a:rPr b="1" sz="1100">
                <a:solidFill>
                  <a:srgbClr val="81C995"/>
                </a:solidFill>
              </a:rPr>
              <a:t>$4,500 – $6,500 — </a:t>
            </a:r>
            <a:r>
              <a:rPr sz="850">
                <a:solidFill>
                  <a:srgbClr val="BDC1C6"/>
                </a:solidFill>
              </a:rPr>
              <a:t>One-time hardware cap-ex for extreme off-grid rainforest border relay mesh gateways.</a:t>
            </a:r>
          </a:p>
        </p:txBody>
      </p:sp>
      <p:sp>
        <p:nvSpPr>
          <p:cNvPr id="134" name="Rounded Rectangle 133"/>
          <p:cNvSpPr/>
          <p:nvPr/>
        </p:nvSpPr>
        <p:spPr>
          <a:xfrm>
            <a:off x="365760" y="4553712"/>
            <a:ext cx="8412480" cy="43891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r>
              <a:rPr b="1" sz="950">
                <a:solidFill>
                  <a:srgbClr val="8AB4F8"/>
                </a:solidFill>
              </a:rPr>
              <a:t>Year 1 Total Cloud &amp; Software TCO: </a:t>
            </a:r>
            <a:r>
              <a:rPr sz="900">
                <a:solidFill>
                  <a:srgbClr val="E8EAED"/>
                </a:solidFill>
              </a:rPr>
              <a:t>$3,360 – $7,860 / year  |  Preventing a single $150k elephant crop raid delivers an immediate 20x–40x ROI.</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Snapshots of the prototype</a:t>
            </a:r>
            <a:endParaRPr sz="1600">
              <a:latin typeface="Google Sans Flex Medium"/>
              <a:ea typeface="Google Sans Flex Medium"/>
              <a:cs typeface="Google Sans Flex Medium"/>
              <a:sym typeface="Google Sans Flex Medium"/>
            </a:endParaRPr>
          </a:p>
        </p:txBody>
      </p:sp>
      <p:sp>
        <p:nvSpPr>
          <p:cNvPr id="136" name="Rounded Rectangle 135"/>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109728" rIns="137160"/>
          <a:lstStyle/>
          <a:p>
            <a:pPr algn="ctr">
              <a:spcAft>
                <a:spcPts val="400"/>
              </a:spcAft>
              <a:defRPr sz="1100" b="1">
                <a:solidFill>
                  <a:srgbClr val="8AB4F8"/>
                </a:solidFill>
                <a:latin typeface="Google Sans Flex"/>
              </a:defRPr>
            </a:pPr>
            <a:r>
              <a:t>Mobile 3-Tier Geofence HUD</a:t>
            </a:r>
          </a:p>
          <a:p>
            <a:pPr>
              <a:spcBef>
                <a:spcPts val="19000"/>
              </a:spcBef>
              <a:defRPr sz="850">
                <a:solidFill>
                  <a:srgbClr val="BDC1C6"/>
                </a:solidFill>
                <a:latin typeface="Google Sans Flex"/>
              </a:defRPr>
            </a:pPr>
            <a:r>
              <a:t>Real-time radar HUD indicating active geofence proximity (Tier 1 Notice / Tier 2 Warning / Tier 3 Danger).</a:t>
            </a:r>
          </a:p>
        </p:txBody>
      </p:sp>
      <p:sp>
        <p:nvSpPr>
          <p:cNvPr id="137" name="Rounded Rectangle 136"/>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109728" rIns="137160"/>
          <a:lstStyle/>
          <a:p>
            <a:pPr algn="ctr">
              <a:spcAft>
                <a:spcPts val="400"/>
              </a:spcAft>
              <a:defRPr sz="1100" b="1">
                <a:solidFill>
                  <a:srgbClr val="81C995"/>
                </a:solidFill>
                <a:latin typeface="Google Sans Flex"/>
              </a:defRPr>
            </a:pPr>
            <a:r>
              <a:t>Dual Smartwatch Tactical HUD</a:t>
            </a:r>
          </a:p>
          <a:p>
            <a:pPr>
              <a:spcBef>
                <a:spcPts val="19000"/>
              </a:spcBef>
              <a:defRPr sz="850">
                <a:solidFill>
                  <a:srgbClr val="BDC1C6"/>
                </a:solidFill>
                <a:latin typeface="Google Sans Flex"/>
              </a:defRPr>
            </a:pPr>
            <a:r>
              <a:t>AMOLED circular tactical display with radial pulse glow for Wear OS and Apple Watch.</a:t>
            </a:r>
          </a:p>
        </p:txBody>
      </p:sp>
      <p:sp>
        <p:nvSpPr>
          <p:cNvPr id="138" name="Rounded Rectangle 137"/>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109728" rIns="137160"/>
          <a:lstStyle/>
          <a:p>
            <a:pPr algn="ctr">
              <a:spcAft>
                <a:spcPts val="400"/>
              </a:spcAft>
              <a:defRPr sz="1100" b="1">
                <a:solidFill>
                  <a:srgbClr val="FDD663"/>
                </a:solidFill>
                <a:latin typeface="Google Sans Flex"/>
              </a:defRPr>
            </a:pPr>
            <a:r>
              <a:t>Operations Admin GIS Console</a:t>
            </a:r>
          </a:p>
          <a:p>
            <a:pPr>
              <a:spcBef>
                <a:spcPts val="19000"/>
              </a:spcBef>
              <a:defRPr sz="850">
                <a:solidFill>
                  <a:srgbClr val="BDC1C6"/>
                </a:solidFill>
                <a:latin typeface="Google Sans Flex"/>
              </a:defRPr>
            </a:pPr>
            <a:r>
              <a:t>Angular 22 portal showing JAPAC hazard polygons, telemetry streams, and manual geofence tools.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65760" y="1170432"/>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In-Memory Geofence Evaluation (Go 1.24)</a:t>
            </a:r>
          </a:p>
          <a:p>
            <a:r>
              <a:rPr b="1" sz="1100">
                <a:solidFill>
                  <a:srgbClr val="81C995"/>
                </a:solidFill>
              </a:rPr>
              <a:t>289.1 ns / op (実測値)  —  </a:t>
            </a:r>
            <a:r>
              <a:rPr sz="900">
                <a:solidFill>
                  <a:srgbClr val="BDC1C6"/>
                </a:solidFill>
              </a:rPr>
              <a:t>Measured via Go Benchmark: Zero-allocation (0 B/op, 0 allocs) enables &gt; 3.4M location tier checks/sec per core.</a:t>
            </a:r>
          </a:p>
        </p:txBody>
      </p:sp>
      <p:sp>
        <p:nvSpPr>
          <p:cNvPr id="145" name="Rounded Rectangle 144"/>
          <p:cNvSpPr/>
          <p:nvPr/>
        </p:nvSpPr>
        <p:spPr>
          <a:xfrm>
            <a:off x="4663440" y="1170432"/>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Live Cloud Run Roundtrip (asia-southeast1)</a:t>
            </a:r>
          </a:p>
          <a:p>
            <a:r>
              <a:rPr b="1" sz="1100">
                <a:solidFill>
                  <a:srgbClr val="8AB4F8"/>
                </a:solidFill>
              </a:rPr>
              <a:t>166 – 181 ms TTFB (実測値)  —  </a:t>
            </a:r>
            <a:r>
              <a:rPr sz="900">
                <a:solidFill>
                  <a:srgbClr val="BDC1C6"/>
                </a:solidFill>
              </a:rPr>
              <a:t>Empirically measured via live WAN curl from Japan to Singapore; container footprint is ~4.6 MB distroless.</a:t>
            </a:r>
          </a:p>
        </p:txBody>
      </p:sp>
      <p:sp>
        <p:nvSpPr>
          <p:cNvPr id="146" name="Rounded Rectangle 145"/>
          <p:cNvSpPr/>
          <p:nvPr/>
        </p:nvSpPr>
        <p:spPr>
          <a:xfrm>
            <a:off x="365760" y="2286000"/>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Gemini 3.8 Flash Schema Triage &amp; Parsing</a:t>
            </a:r>
          </a:p>
          <a:p>
            <a:r>
              <a:rPr b="1" sz="1100">
                <a:solidFill>
                  <a:srgbClr val="81C995"/>
                </a:solidFill>
              </a:rPr>
              <a:t>3.48 µs / op (実測値)  —  </a:t>
            </a:r>
            <a:r>
              <a:rPr sz="900">
                <a:solidFill>
                  <a:srgbClr val="BDC1C6"/>
                </a:solidFill>
              </a:rPr>
              <a:t>Measured via Go Benchmark: parses &amp; validates structured multimodal forensic JSON at &gt; 287k ops/sec.</a:t>
            </a:r>
          </a:p>
        </p:txBody>
      </p:sp>
      <p:sp>
        <p:nvSpPr>
          <p:cNvPr id="147" name="Rounded Rectangle 146"/>
          <p:cNvSpPr/>
          <p:nvPr/>
        </p:nvSpPr>
        <p:spPr>
          <a:xfrm>
            <a:off x="4663440" y="2286000"/>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Apple Watch / watchOS Swift Core Tests</a:t>
            </a:r>
          </a:p>
          <a:p>
            <a:r>
              <a:rPr b="1" sz="1100">
                <a:solidFill>
                  <a:srgbClr val="FDD663"/>
                </a:solidFill>
              </a:rPr>
              <a:t>0.002 s (7/7 Passed, 実測値)  —  </a:t>
            </a:r>
            <a:r>
              <a:rPr sz="900">
                <a:solidFill>
                  <a:srgbClr val="BDC1C6"/>
                </a:solidFill>
              </a:rPr>
              <a:t>Measured via Swift XCTest: alert tier parsing, HUD proximity fill ratio &amp; haptic dispatch executed in &lt; 1 ms.</a:t>
            </a:r>
          </a:p>
        </p:txBody>
      </p:sp>
      <p:sp>
        <p:nvSpPr>
          <p:cNvPr id="148" name="Rounded Rectangle 147"/>
          <p:cNvSpPr/>
          <p:nvPr/>
        </p:nvSpPr>
        <p:spPr>
          <a:xfrm>
            <a:off x="365760" y="3401568"/>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Web Admin Dashboard Test Suite (Karma)</a:t>
            </a:r>
          </a:p>
          <a:p>
            <a:r>
              <a:rPr b="1" sz="1100">
                <a:solidFill>
                  <a:srgbClr val="8AB4F8"/>
                </a:solidFill>
              </a:rPr>
              <a:t>2.15 s (19/19 Passed, 実測値)  —  </a:t>
            </a:r>
            <a:r>
              <a:rPr sz="900">
                <a:solidFill>
                  <a:srgbClr val="BDC1C6"/>
                </a:solidFill>
              </a:rPr>
              <a:t>Measured via Angular Karma &amp; Chrome 155 headless: 100% pass across GIS telemetry, auth guards &amp; map layers.</a:t>
            </a:r>
          </a:p>
        </p:txBody>
      </p:sp>
      <p:sp>
        <p:nvSpPr>
          <p:cNvPr id="149" name="Rounded Rectangle 148"/>
          <p:cNvSpPr/>
          <p:nvPr/>
        </p:nvSpPr>
        <p:spPr>
          <a:xfrm>
            <a:off x="4663440" y="3401568"/>
            <a:ext cx="4114800" cy="1024128"/>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100" b="1">
                <a:solidFill>
                  <a:srgbClr val="FFFFFF"/>
                </a:solidFill>
                <a:latin typeface="Google Sans Flex"/>
              </a:defRPr>
            </a:pPr>
            <a:r>
              <a:t>Full-Stack Automated Backend Tests</a:t>
            </a:r>
          </a:p>
          <a:p>
            <a:r>
              <a:rPr b="1" sz="1100">
                <a:solidFill>
                  <a:srgbClr val="81C995"/>
                </a:solidFill>
              </a:rPr>
              <a:t>100% Pass (60+ Suites, 実測値)  —  </a:t>
            </a:r>
            <a:r>
              <a:rPr sz="900">
                <a:solidFill>
                  <a:srgbClr val="BDC1C6"/>
                </a:solidFill>
              </a:rPr>
              <a:t>Empirically verified with 0 race conditions across 13 Go packages, BigQuery GIS streaming &amp; Open-Meteo sync.</a:t>
            </a:r>
          </a:p>
        </p:txBody>
      </p:sp>
      <p:sp>
        <p:nvSpPr>
          <p:cNvPr id="150" name="TextBox 149"/>
          <p:cNvSpPr txBox="1"/>
          <p:nvPr/>
        </p:nvSpPr>
        <p:spPr>
          <a:xfrm>
            <a:off x="365760" y="4590288"/>
            <a:ext cx="8412480" cy="365760"/>
          </a:xfrm>
          <a:prstGeom prst="rect">
            <a:avLst/>
          </a:prstGeom>
          <a:noFill/>
        </p:spPr>
        <p:txBody>
          <a:bodyPr wrap="square" tIns="0" bIns="0">
            <a:spAutoFit/>
          </a:bodyPr>
          <a:lstStyle/>
          <a:p>
            <a:pPr>
              <a:defRPr sz="850" b="1">
                <a:solidFill>
                  <a:srgbClr val="81C995"/>
                </a:solidFill>
              </a:defRPr>
            </a:pPr>
            <a:r>
              <a:t>✓ Empirical Verification Note: All values above are real-world empirical benchmarks (実測値) measured across live Cloud Run (asia-southeast1), Go microbenchmarks (Apple M3 Max), Swift XCTest, and Chrome headless test harnesses.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60" y="1234440"/>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200" b="1">
                <a:solidFill>
                  <a:srgbClr val="8AB4F8"/>
                </a:solidFill>
                <a:latin typeface="Google Sans Flex"/>
              </a:defRPr>
            </a:pPr>
            <a:r>
              <a:t>Milestone 1: Edge AI Audio Classifier (MediaPipe / LiteRT)</a:t>
            </a:r>
          </a:p>
          <a:p>
            <a:pPr>
              <a:defRPr sz="950">
                <a:solidFill>
                  <a:srgbClr val="E8EAED"/>
                </a:solidFill>
                <a:latin typeface="Google Sans Flex"/>
              </a:defRPr>
            </a:pPr>
            <a:r>
              <a:t>Deploy on-device bioacoustic models on smartwatches and edge sensors to identify low-frequency elephant rumbles and tiger growls with zero cellular signal.</a:t>
            </a:r>
          </a:p>
        </p:txBody>
      </p:sp>
      <p:sp>
        <p:nvSpPr>
          <p:cNvPr id="153" name="Rounded Rectangle 152"/>
          <p:cNvSpPr/>
          <p:nvPr/>
        </p:nvSpPr>
        <p:spPr>
          <a:xfrm>
            <a:off x="365760" y="2130552"/>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200" b="1">
                <a:solidFill>
                  <a:srgbClr val="81C995"/>
                </a:solidFill>
                <a:latin typeface="Google Sans Flex"/>
              </a:defRPr>
            </a:pPr>
            <a:r>
              <a:t>Milestone 2: LoRaWAN &amp; Mesh Satellite Gateways</a:t>
            </a:r>
          </a:p>
          <a:p>
            <a:pPr>
              <a:defRPr sz="950">
                <a:solidFill>
                  <a:srgbClr val="E8EAED"/>
                </a:solidFill>
                <a:latin typeface="Google Sans Flex"/>
              </a:defRPr>
            </a:pPr>
            <a:r>
              <a:t>Establish low-power long-range mesh beacons across dense rainforest boundaries to transmit dynamic geofence coordinates where 4G/5G is unavailable.</a:t>
            </a:r>
          </a:p>
        </p:txBody>
      </p:sp>
      <p:sp>
        <p:nvSpPr>
          <p:cNvPr id="154" name="Rounded Rectangle 153"/>
          <p:cNvSpPr/>
          <p:nvPr/>
        </p:nvSpPr>
        <p:spPr>
          <a:xfrm>
            <a:off x="365760" y="3026664"/>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200" b="1">
                <a:solidFill>
                  <a:srgbClr val="FDD663"/>
                </a:solidFill>
                <a:latin typeface="Google Sans Flex"/>
              </a:defRPr>
            </a:pPr>
            <a:r>
              <a:t>Milestone 3: Automated Non-Lethal IoT Deterrence Integration</a:t>
            </a:r>
          </a:p>
          <a:p>
            <a:pPr>
              <a:defRPr sz="950">
                <a:solidFill>
                  <a:srgbClr val="E8EAED"/>
                </a:solidFill>
                <a:latin typeface="Google Sans Flex"/>
              </a:defRPr>
            </a:pPr>
            <a:r>
              <a:t>Interconnect geofence triggers with solar-powered boundary acoustic sirens (e.g., recorded bee swarms for elephants) and strobe deterrents to redirect herds harmlessly.</a:t>
            </a:r>
          </a:p>
        </p:txBody>
      </p:sp>
      <p:sp>
        <p:nvSpPr>
          <p:cNvPr id="155" name="Rounded Rectangle 154"/>
          <p:cNvSpPr/>
          <p:nvPr/>
        </p:nvSpPr>
        <p:spPr>
          <a:xfrm>
            <a:off x="365760" y="3922776"/>
            <a:ext cx="8412480" cy="8229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200" b="1">
                <a:solidFill>
                  <a:srgbClr val="F28B82"/>
                </a:solidFill>
                <a:latin typeface="Google Sans Flex"/>
              </a:defRPr>
            </a:pPr>
            <a:r>
              <a:t>Milestone 4: Autonomous Thermal Inspection Drone Fleet</a:t>
            </a:r>
          </a:p>
          <a:p>
            <a:pPr>
              <a:defRPr sz="950">
                <a:solidFill>
                  <a:srgbClr val="E8EAED"/>
                </a:solidFill>
                <a:latin typeface="Google Sans Flex"/>
              </a:defRPr>
            </a:pPr>
            <a:r>
              <a:t>Integrate automated drone dispatch APIs to launch nocturnal thermal camera patrols verifying Tier 3 geofence incursions before field teams respond.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Provide links to your:</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60" y="123444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AB4F8"/>
                </a:solidFill>
                <a:latin typeface="Google Sans Flex"/>
              </a:defRPr>
            </a:pPr>
            <a:r>
              <a:t>1. GitHub Public Repository</a:t>
            </a:r>
          </a:p>
          <a:p>
            <a:pPr>
              <a:spcAft>
                <a:spcPts val="200"/>
              </a:spcAft>
              <a:defRPr sz="1050" b="1">
                <a:solidFill>
                  <a:srgbClr val="FFFFFF"/>
                </a:solidFill>
                <a:latin typeface="Google Sans Flex"/>
              </a:defRPr>
            </a:pPr>
            <a:r>
              <a:t>https://github.com/CoExistShieldAI/CoExistShieldAI</a:t>
            </a:r>
          </a:p>
          <a:p>
            <a:pPr>
              <a:defRPr sz="900">
                <a:solidFill>
                  <a:srgbClr val="BDC1C6"/>
                </a:solidFill>
                <a:latin typeface="Google Sans Flex"/>
              </a:defRPr>
            </a:pPr>
            <a:r>
              <a:t>Full source code: Go Cloud Run backend, Angular 22 admin portal, Kotlin Multiplatform shared library, Compose Android app, Wear OS companion app, Apple Watch companion app (SwiftUI), Playwright E2E suites, and Terraform IaC.</a:t>
            </a:r>
          </a:p>
        </p:txBody>
      </p:sp>
      <p:sp>
        <p:nvSpPr>
          <p:cNvPr id="161" name="Rounded Rectangle 160"/>
          <p:cNvSpPr/>
          <p:nvPr/>
        </p:nvSpPr>
        <p:spPr>
          <a:xfrm>
            <a:off x="365760" y="242316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F28B82"/>
                </a:solidFill>
                <a:latin typeface="Google Sans Flex"/>
              </a:defRPr>
            </a:pPr>
            <a:r>
              <a:t>2. Demo Video Link (3 Minutes)</a:t>
            </a:r>
          </a:p>
          <a:p>
            <a:pPr>
              <a:spcAft>
                <a:spcPts val="200"/>
              </a:spcAft>
              <a:defRPr sz="1050" b="1">
                <a:solidFill>
                  <a:srgbClr val="FFFFFF"/>
                </a:solidFill>
                <a:latin typeface="Google Sans Flex"/>
              </a:defRPr>
            </a:pPr>
            <a:r>
              <a:t>[YouTube 3-Min Demo Video Link - e.g. https://youtu.be/...]</a:t>
            </a:r>
          </a:p>
          <a:p>
            <a:pPr>
              <a:defRPr sz="900">
                <a:solidFill>
                  <a:srgbClr val="BDC1C6"/>
                </a:solidFill>
                <a:latin typeface="Google Sans Flex"/>
              </a:defRPr>
            </a:pPr>
            <a:r>
              <a:t>Cinematic Remotion demonstration with Vertex AI Veo 3 video clips, narrated voiceover: opening rainforest crisis, Wear OS &amp; Apple Watch wrist alerts, roadkill triage, and JAPAC operations console.</a:t>
            </a:r>
          </a:p>
        </p:txBody>
      </p:sp>
      <p:sp>
        <p:nvSpPr>
          <p:cNvPr id="162" name="Rounded Rectangle 161"/>
          <p:cNvSpPr/>
          <p:nvPr/>
        </p:nvSpPr>
        <p:spPr>
          <a:xfrm>
            <a:off x="365760" y="361188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1C995"/>
                </a:solidFill>
                <a:latin typeface="Google Sans Flex"/>
              </a:defRPr>
            </a:pPr>
            <a:r>
              <a:t>3. Final Product Link (Live Applications)</a:t>
            </a:r>
          </a:p>
          <a:p>
            <a:pPr>
              <a:spcAft>
                <a:spcPts val="200"/>
              </a:spcAft>
              <a:defRPr sz="1050" b="1">
                <a:solidFill>
                  <a:srgbClr val="FFFFFF"/>
                </a:solidFill>
                <a:latin typeface="Google Sans Flex"/>
              </a:defRPr>
            </a:pPr>
            <a:r>
              <a:t>• Field Web Application (KMP / Compose): https://corald.web.app</a:t>
            </a:r>
            <a:br/>
            <a:r>
              <a:t>• Operations Admin Portal (Angular 22): https://corald-admin.web.app</a:t>
            </a:r>
            <a:br/>
            <a:r>
              <a:t>• Live Cloud Run API (Singapore): https://coexistshield-backend-4cerxfo4wq-as.a.run.app</a:t>
            </a:r>
          </a:p>
          <a:p>
            <a:pPr>
              <a:defRPr sz="900">
                <a:solidFill>
                  <a:srgbClr val="BDC1C6"/>
                </a:solidFill>
                <a:latin typeface="Google Sans Flex"/>
              </a:defRPr>
            </a:pPr>
            <a:r>
              <a:t>Active production deployments hosted on Google Cloud Run and Firebase Hosting.</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365760" y="365760"/>
            <a:ext cx="8412480" cy="502920"/>
          </a:xfrm>
          <a:prstGeom prst="rect">
            <a:avLst/>
          </a:prstGeom>
          <a:noFill/>
        </p:spPr>
        <p:txBody>
          <a:bodyPr wrap="none">
            <a:spAutoFit/>
          </a:bodyPr>
          <a:lstStyle/>
          <a:p>
            <a:pPr>
              <a:defRPr sz="2000" b="1">
                <a:solidFill>
                  <a:srgbClr val="FFFFFF"/>
                </a:solidFill>
                <a:latin typeface="Google Sans Flex"/>
              </a:defRPr>
            </a:pPr>
            <a:r>
              <a:t>Global Impact, Business Model &amp; One Health Barrier</a:t>
            </a:r>
          </a:p>
        </p:txBody>
      </p:sp>
      <p:sp>
        <p:nvSpPr>
          <p:cNvPr id="168" name="Rounded Rectangle 167"/>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8AB4F8"/>
                </a:solidFill>
                <a:latin typeface="Google Sans Flex"/>
              </a:defRPr>
            </a:pPr>
            <a:r>
              <a:t>APAC Commercial Plantations (B2B SaaS)</a:t>
            </a:r>
          </a:p>
          <a:p>
            <a:pPr>
              <a:spcAft>
                <a:spcPts val="600"/>
              </a:spcAft>
              <a:defRPr sz="950">
                <a:solidFill>
                  <a:srgbClr val="E8EAED"/>
                </a:solidFill>
                <a:latin typeface="Google Sans Flex"/>
              </a:defRPr>
            </a:pPr>
            <a:r>
              <a:t>• Target: Major palm oil, rubber, and timber conglomerates across Southeast Asia (Wilmar, Sime Darby, Golden Agri-Resources).</a:t>
            </a:r>
          </a:p>
          <a:p>
            <a:pPr>
              <a:spcAft>
                <a:spcPts val="600"/>
              </a:spcAft>
              <a:defRPr sz="950">
                <a:solidFill>
                  <a:srgbClr val="E8EAED"/>
                </a:solidFill>
                <a:latin typeface="Google Sans Flex"/>
              </a:defRPr>
            </a:pPr>
            <a:r>
              <a:t>• Value Proposition: Eliminates fatal carnivore attacks, prevents labor walkouts, saves $50k–$200k nightly crop losses, and guarantees RSPO/FSC zero-harm ESG compliance.</a:t>
            </a:r>
          </a:p>
          <a:p>
            <a:pPr>
              <a:spcAft>
                <a:spcPts val="600"/>
              </a:spcAft>
              <a:defRPr sz="950">
                <a:solidFill>
                  <a:srgbClr val="E8EAED"/>
                </a:solidFill>
                <a:latin typeface="Google Sans Flex"/>
              </a:defRPr>
            </a:pPr>
            <a:r>
              <a:t>• Model: Annual per-hectare subscription license + telemetry API feeds.</a:t>
            </a:r>
          </a:p>
        </p:txBody>
      </p:sp>
      <p:sp>
        <p:nvSpPr>
          <p:cNvPr id="169" name="Rounded Rectangle 168"/>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81C995"/>
                </a:solidFill>
                <a:latin typeface="Google Sans Flex"/>
              </a:defRPr>
            </a:pPr>
            <a:r>
              <a:t>Municipal Wildlife Defense (B2G &amp; GCF)</a:t>
            </a:r>
          </a:p>
          <a:p>
            <a:pPr>
              <a:spcAft>
                <a:spcPts val="600"/>
              </a:spcAft>
              <a:defRPr sz="950">
                <a:solidFill>
                  <a:srgbClr val="E8EAED"/>
                </a:solidFill>
                <a:latin typeface="Google Sans Flex"/>
              </a:defRPr>
            </a:pPr>
            <a:r>
              <a:t>• Target: Depopulated prefectural &amp; municipal governments facing acute wildlife encroachment (Japan &amp; temperate zones).</a:t>
            </a:r>
          </a:p>
          <a:p>
            <a:pPr>
              <a:spcAft>
                <a:spcPts val="600"/>
              </a:spcAft>
              <a:defRPr sz="950">
                <a:solidFill>
                  <a:srgbClr val="E8EAED"/>
                </a:solidFill>
                <a:latin typeface="Google Sans Flex"/>
              </a:defRPr>
            </a:pPr>
            <a:r>
              <a:t>• Decision Support: Pinpoints highest-risk top 5% abandoned fruit trees near residential zones.</a:t>
            </a:r>
          </a:p>
          <a:p>
            <a:pPr>
              <a:spcAft>
                <a:spcPts val="600"/>
              </a:spcAft>
              <a:defRPr sz="950">
                <a:solidFill>
                  <a:srgbClr val="E8EAED"/>
                </a:solidFill>
                <a:latin typeface="Google Sans Flex"/>
              </a:defRPr>
            </a:pPr>
            <a:r>
              <a:t>• Funding Mechanics: Integrated with Government Crowdfunding (GCF / Furusato Nozei) to subsidize tree felling without draining municipal budgets.</a:t>
            </a:r>
          </a:p>
        </p:txBody>
      </p:sp>
      <p:sp>
        <p:nvSpPr>
          <p:cNvPr id="170" name="Rounded Rectangle 169"/>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F28B82"/>
                </a:solidFill>
                <a:latin typeface="Google Sans Flex"/>
              </a:defRPr>
            </a:pPr>
            <a:r>
              <a:t>Global One Health Barrier</a:t>
            </a:r>
          </a:p>
          <a:p>
            <a:pPr>
              <a:spcAft>
                <a:spcPts val="600"/>
              </a:spcAft>
              <a:defRPr sz="950">
                <a:solidFill>
                  <a:srgbClr val="E8EAED"/>
                </a:solidFill>
                <a:latin typeface="Google Sans Flex"/>
              </a:defRPr>
            </a:pPr>
            <a:r>
              <a:t>• Zoonotic Pandemic Shield: Autonomous carcass surveillance network rapidly removes decaying carcasses that breed infectious pathogens and shuts down dangerous bushmeat supply chains.</a:t>
            </a:r>
          </a:p>
          <a:p>
            <a:pPr>
              <a:spcAft>
                <a:spcPts val="600"/>
              </a:spcAft>
              <a:defRPr sz="950">
                <a:solidFill>
                  <a:srgbClr val="E8EAED"/>
                </a:solidFill>
                <a:latin typeface="Google Sans Flex"/>
              </a:defRPr>
            </a:pPr>
            <a:r>
              <a:t>• Cross-Border Scalability: Algorithms seamlessly expand from tropical rainforests (tigers/elephants) to temperate mountains (bears).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pPr>
              <a:defRPr sz="2000" b="1">
                <a:solidFill>
                  <a:srgbClr val="FFFFFF"/>
                </a:solidFill>
                <a:latin typeface="Google Sans Flex"/>
              </a:defRPr>
            </a:pPr>
            <a:r>
              <a:t>JAPAC Wildlife Conflict: Human Casualties &amp; Fatalities by Country</a:t>
            </a:r>
          </a:p>
        </p:txBody>
      </p:sp>
      <p:sp>
        <p:nvSpPr>
          <p:cNvPr id="3" name="TextBox 2"/>
          <p:cNvSpPr txBox="1"/>
          <p:nvPr/>
        </p:nvSpPr>
        <p:spPr>
          <a:xfrm>
            <a:off x="365760" y="804672"/>
            <a:ext cx="8412480" cy="292608"/>
          </a:xfrm>
          <a:prstGeom prst="rect">
            <a:avLst/>
          </a:prstGeom>
          <a:noFill/>
        </p:spPr>
        <p:txBody>
          <a:bodyPr wrap="square" tIns="0" bIns="0" lIns="0">
            <a:spAutoFit/>
          </a:bodyPr>
          <a:lstStyle/>
          <a:p>
            <a:pPr>
              <a:defRPr sz="950">
                <a:solidFill>
                  <a:srgbClr val="BDC1C6"/>
                </a:solidFill>
                <a:latin typeface="Google Sans Flex"/>
              </a:defRPr>
            </a:pPr>
            <a:r>
              <a:t>Empirical Human Casualties &amp; Wildlife Mortality Across Sri Lanka, India, Japan, Thailand, and Indonesia (2020–2025)</a:t>
            </a:r>
          </a:p>
        </p:txBody>
      </p:sp>
      <p:sp>
        <p:nvSpPr>
          <p:cNvPr id="4" name="Rounded Rectangle 3"/>
          <p:cNvSpPr/>
          <p:nvPr/>
        </p:nvSpPr>
        <p:spPr>
          <a:xfrm>
            <a:off x="365760" y="1115568"/>
            <a:ext cx="2029968"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28016" tIns="73152" rIns="128016"/>
          <a:lstStyle/>
          <a:p>
            <a:pPr algn="ctr">
              <a:defRPr sz="850" b="1">
                <a:solidFill>
                  <a:srgbClr val="DC6EF0"/>
                </a:solidFill>
                <a:latin typeface="Google Sans Flex"/>
              </a:defRPr>
            </a:pPr>
            <a:r>
              <a:t>Sri Lanka (Global HEC Epicenter)</a:t>
            </a:r>
          </a:p>
          <a:p>
            <a:r>
              <a:rPr b="1" sz="1000">
                <a:solidFill>
                  <a:srgbClr val="FFFFFF"/>
                </a:solidFill>
              </a:rPr>
              <a:t>~165 Deaths | 476 Elephants/Yr</a:t>
            </a:r>
          </a:p>
          <a:p>
            <a:r>
              <a:rPr sz="750">
                <a:solidFill>
                  <a:srgbClr val="BDC1C6"/>
                </a:solidFill>
              </a:rPr>
              <a:t>World's highest HEC mortality density. 70% of wild elephant range overlaps directly with rural paddy &amp; fruit farming.</a:t>
            </a:r>
          </a:p>
        </p:txBody>
      </p:sp>
      <p:sp>
        <p:nvSpPr>
          <p:cNvPr id="5" name="Rounded Rectangle 4"/>
          <p:cNvSpPr/>
          <p:nvPr/>
        </p:nvSpPr>
        <p:spPr>
          <a:xfrm>
            <a:off x="2505456" y="1115568"/>
            <a:ext cx="2029968"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28016" tIns="73152" rIns="128016"/>
          <a:lstStyle/>
          <a:p>
            <a:pPr algn="ctr">
              <a:defRPr sz="850" b="1">
                <a:solidFill>
                  <a:srgbClr val="8AB4F8"/>
                </a:solidFill>
                <a:latin typeface="Google Sans Flex"/>
              </a:defRPr>
            </a:pPr>
            <a:r>
              <a:t>India (Highest Absolute Deaths)</a:t>
            </a:r>
          </a:p>
          <a:p>
            <a:r>
              <a:rPr b="1" sz="1000">
                <a:solidFill>
                  <a:srgbClr val="FFFFFF"/>
                </a:solidFill>
              </a:rPr>
              <a:t>~560 Fatalities / Yr</a:t>
            </a:r>
          </a:p>
          <a:p>
            <a:r>
              <a:rPr sz="750">
                <a:solidFill>
                  <a:srgbClr val="BDC1C6"/>
                </a:solidFill>
              </a:rPr>
              <a:t>~500 deaths from elephants &amp; ~60 from tigers. Severe corridor fragmentation across Assam, Odisha, and West Bengal.</a:t>
            </a:r>
          </a:p>
        </p:txBody>
      </p:sp>
      <p:sp>
        <p:nvSpPr>
          <p:cNvPr id="6" name="Rounded Rectangle 5"/>
          <p:cNvSpPr/>
          <p:nvPr/>
        </p:nvSpPr>
        <p:spPr>
          <a:xfrm>
            <a:off x="4645152" y="1115568"/>
            <a:ext cx="2029968"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28016" tIns="73152" rIns="128016"/>
          <a:lstStyle/>
          <a:p>
            <a:pPr algn="ctr">
              <a:defRPr sz="850" b="1">
                <a:solidFill>
                  <a:srgbClr val="FDD663"/>
                </a:solidFill>
                <a:latin typeface="Google Sans Flex"/>
              </a:defRPr>
            </a:pPr>
            <a:r>
              <a:t>Japan (Historic Record Bear Surge)</a:t>
            </a:r>
          </a:p>
          <a:p>
            <a:r>
              <a:rPr b="1" sz="1000">
                <a:solidFill>
                  <a:srgbClr val="FFFFFF"/>
                </a:solidFill>
              </a:rPr>
              <a:t>219 Casualties (6 Fatal) Peak</a:t>
            </a:r>
          </a:p>
          <a:p>
            <a:r>
              <a:rPr sz="750">
                <a:solidFill>
                  <a:srgbClr val="BDC1C6"/>
                </a:solidFill>
              </a:rPr>
              <a:t>Record 2023 surge across Tohoku/Hokkaido; 9,000+ bears culled. Driven by mast failure &amp; abandoned persimmons.</a:t>
            </a:r>
          </a:p>
        </p:txBody>
      </p:sp>
      <p:sp>
        <p:nvSpPr>
          <p:cNvPr id="7" name="Rounded Rectangle 6"/>
          <p:cNvSpPr/>
          <p:nvPr/>
        </p:nvSpPr>
        <p:spPr>
          <a:xfrm>
            <a:off x="6784848" y="1115568"/>
            <a:ext cx="2029968"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28016" tIns="73152" rIns="128016"/>
          <a:lstStyle/>
          <a:p>
            <a:pPr algn="ctr">
              <a:defRPr sz="850" b="1">
                <a:solidFill>
                  <a:srgbClr val="F28B82"/>
                </a:solidFill>
                <a:latin typeface="Google Sans Flex"/>
              </a:defRPr>
            </a:pPr>
            <a:r>
              <a:t>Sumatra &amp; Thailand (Apex Megafauna)</a:t>
            </a:r>
          </a:p>
          <a:p>
            <a:r>
              <a:rPr b="1" sz="1000">
                <a:solidFill>
                  <a:srgbClr val="FFFFFF"/>
                </a:solidFill>
              </a:rPr>
              <a:t>&lt;400 Tigers | 80+ Casualties</a:t>
            </a:r>
          </a:p>
          <a:p>
            <a:r>
              <a:rPr sz="750">
                <a:solidFill>
                  <a:srgbClr val="BDC1C6"/>
                </a:solidFill>
              </a:rPr>
              <a:t>Sumatran tiger livestock predation &amp; plantation worker strikes; Thai sugarcane corridor incursion clashes.</a:t>
            </a:r>
          </a:p>
        </p:txBody>
      </p:sp>
      <p:pic>
        <p:nvPicPr>
          <p:cNvPr id="8" name="Picture 7" descr="japac_chart_casualties.png"/>
          <p:cNvPicPr>
            <a:picLocks noChangeAspect="1"/>
          </p:cNvPicPr>
          <p:nvPr/>
        </p:nvPicPr>
        <p:blipFill>
          <a:blip r:embed="rId2"/>
          <a:stretch>
            <a:fillRect/>
          </a:stretch>
        </p:blipFill>
        <p:spPr>
          <a:xfrm>
            <a:off x="365760" y="2157984"/>
            <a:ext cx="8412480" cy="2331720"/>
          </a:xfrm>
          <a:prstGeom prst="rect">
            <a:avLst/>
          </a:prstGeom>
        </p:spPr>
      </p:pic>
      <p:sp>
        <p:nvSpPr>
          <p:cNvPr id="9" name="Rounded Rectangle 8"/>
          <p:cNvSpPr/>
          <p:nvPr/>
        </p:nvSpPr>
        <p:spPr>
          <a:xfrm>
            <a:off x="365760" y="4553712"/>
            <a:ext cx="8412480" cy="43891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rIns="164592"/>
          <a:lstStyle/>
          <a:p>
            <a:pPr algn="ctr"/>
            <a:r>
              <a:rPr b="1" sz="819">
                <a:solidFill>
                  <a:srgbClr val="DC6EF0"/>
                </a:solidFill>
              </a:rPr>
              <a:t>Humanitarian &amp; Conservation Emergency: </a:t>
            </a:r>
            <a:r>
              <a:rPr sz="800">
                <a:solidFill>
                  <a:srgbClr val="E8EAED"/>
                </a:solidFill>
              </a:rPr>
              <a:t>Sri Lanka and India suffer over 700 human deaths annually from elephants, while over 550 endangered elephants and 9,000 bears are killed in retaliation. CoExist Shield AI replaces deadly reactive traps and culls with real-time predictive spatial safety.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pPr>
              <a:defRPr sz="2000" b="1">
                <a:solidFill>
                  <a:srgbClr val="FFFFFF"/>
                </a:solidFill>
                <a:latin typeface="Google Sans Flex"/>
              </a:defRPr>
            </a:pPr>
            <a:r>
              <a:t>JAPAC Economic Devastation &amp; Root Ecological Drivers</a:t>
            </a:r>
          </a:p>
        </p:txBody>
      </p:sp>
      <p:sp>
        <p:nvSpPr>
          <p:cNvPr id="3" name="TextBox 2"/>
          <p:cNvSpPr txBox="1"/>
          <p:nvPr/>
        </p:nvSpPr>
        <p:spPr>
          <a:xfrm>
            <a:off x="365760" y="804672"/>
            <a:ext cx="8412480" cy="292608"/>
          </a:xfrm>
          <a:prstGeom prst="rect">
            <a:avLst/>
          </a:prstGeom>
          <a:noFill/>
        </p:spPr>
        <p:txBody>
          <a:bodyPr wrap="square" tIns="0" bIns="0" lIns="0">
            <a:spAutoFit/>
          </a:bodyPr>
          <a:lstStyle/>
          <a:p>
            <a:pPr>
              <a:defRPr sz="950">
                <a:solidFill>
                  <a:srgbClr val="BDC1C6"/>
                </a:solidFill>
                <a:latin typeface="Google Sans Flex"/>
              </a:defRPr>
            </a:pPr>
            <a:r>
              <a:t>Annual Financial Ruin ($4.5B+ Total), Targeted Agricultural Commodities &amp; Causal Conflict Triggers</a:t>
            </a:r>
          </a:p>
        </p:txBody>
      </p:sp>
      <p:sp>
        <p:nvSpPr>
          <p:cNvPr id="4" name="Rounded Rectangle 3"/>
          <p:cNvSpPr/>
          <p:nvPr/>
        </p:nvSpPr>
        <p:spPr>
          <a:xfrm>
            <a:off x="365760" y="1115568"/>
            <a:ext cx="2706624"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000" b="1">
                <a:solidFill>
                  <a:srgbClr val="81C995"/>
                </a:solidFill>
                <a:latin typeface="Google Sans Flex"/>
              </a:defRPr>
            </a:pPr>
            <a:r>
              <a:t>Agricultural &amp; Crop Ruin ($2.8B)</a:t>
            </a:r>
          </a:p>
          <a:p>
            <a:r>
              <a:rPr b="1" sz="1100">
                <a:solidFill>
                  <a:srgbClr val="FFFFFF"/>
                </a:solidFill>
              </a:rPr>
              <a:t>Rice, Sugarcane, Fruit, Kaki</a:t>
            </a:r>
          </a:p>
          <a:p>
            <a:r>
              <a:rPr sz="800">
                <a:solidFill>
                  <a:srgbClr val="BDC1C6"/>
                </a:solidFill>
              </a:rPr>
              <a:t>Paddy in Sri Lanka, sugarcane in Thailand/India, palm fruit in Sumatra, persimmons/apples in Japan. Single herd raid costs $50k–$200k.</a:t>
            </a:r>
          </a:p>
        </p:txBody>
      </p:sp>
      <p:sp>
        <p:nvSpPr>
          <p:cNvPr id="5" name="Rounded Rectangle 4"/>
          <p:cNvSpPr/>
          <p:nvPr/>
        </p:nvSpPr>
        <p:spPr>
          <a:xfrm>
            <a:off x="3218688" y="1115568"/>
            <a:ext cx="2706624"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000" b="1">
                <a:solidFill>
                  <a:srgbClr val="F28B82"/>
                </a:solidFill>
                <a:latin typeface="Google Sans Flex"/>
              </a:defRPr>
            </a:pPr>
            <a:r>
              <a:t>Concession Labor Strikes ($850M)</a:t>
            </a:r>
          </a:p>
          <a:p>
            <a:r>
              <a:rPr b="1" sz="1100">
                <a:solidFill>
                  <a:srgbClr val="FFFFFF"/>
                </a:solidFill>
              </a:rPr>
              <a:t>Weeks of Plantation Shutdown</a:t>
            </a:r>
          </a:p>
          <a:p>
            <a:r>
              <a:rPr sz="800">
                <a:solidFill>
                  <a:srgbClr val="BDC1C6"/>
                </a:solidFill>
              </a:rPr>
              <a:t>A single fatal tiger/elephant encounter causes harvester walkouts across palm oil, tea &amp; rubber estates, paralyzing production and RSPO compliance.</a:t>
            </a:r>
          </a:p>
        </p:txBody>
      </p:sp>
      <p:sp>
        <p:nvSpPr>
          <p:cNvPr id="6" name="Rounded Rectangle 5"/>
          <p:cNvSpPr/>
          <p:nvPr/>
        </p:nvSpPr>
        <p:spPr>
          <a:xfrm>
            <a:off x="6071616" y="1115568"/>
            <a:ext cx="2706624" cy="98755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rIns="164592"/>
          <a:lstStyle/>
          <a:p>
            <a:pPr algn="ctr">
              <a:defRPr sz="1000" b="1">
                <a:solidFill>
                  <a:srgbClr val="FDD663"/>
                </a:solidFill>
                <a:latin typeface="Google Sans Flex"/>
              </a:defRPr>
            </a:pPr>
            <a:r>
              <a:t>Livestock &amp; Infrastructure ($850M)</a:t>
            </a:r>
          </a:p>
          <a:p>
            <a:r>
              <a:rPr b="1" sz="1100">
                <a:solidFill>
                  <a:srgbClr val="FFFFFF"/>
                </a:solidFill>
              </a:rPr>
              <a:t>Cattle Ambushes &amp; Rail Collisions</a:t>
            </a:r>
          </a:p>
          <a:p>
            <a:r>
              <a:rPr sz="800">
                <a:solidFill>
                  <a:srgbClr val="BDC1C6"/>
                </a:solidFill>
              </a:rPr>
              <a:t>Unprotected night corrals in Sumatra/India draw apex predators; trains colliding with elephant herds cause catastrophic derailments.</a:t>
            </a:r>
          </a:p>
        </p:txBody>
      </p:sp>
      <p:pic>
        <p:nvPicPr>
          <p:cNvPr id="7" name="Picture 6" descr="japac_chart_economics.png"/>
          <p:cNvPicPr>
            <a:picLocks noChangeAspect="1"/>
          </p:cNvPicPr>
          <p:nvPr/>
        </p:nvPicPr>
        <p:blipFill>
          <a:blip r:embed="rId2"/>
          <a:stretch>
            <a:fillRect/>
          </a:stretch>
        </p:blipFill>
        <p:spPr>
          <a:xfrm>
            <a:off x="365760" y="2157984"/>
            <a:ext cx="8412480" cy="2331720"/>
          </a:xfrm>
          <a:prstGeom prst="rect">
            <a:avLst/>
          </a:prstGeom>
        </p:spPr>
      </p:pic>
      <p:sp>
        <p:nvSpPr>
          <p:cNvPr id="8" name="Rounded Rectangle 7"/>
          <p:cNvSpPr/>
          <p:nvPr/>
        </p:nvSpPr>
        <p:spPr>
          <a:xfrm>
            <a:off x="365760" y="4553712"/>
            <a:ext cx="8412480" cy="43891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64592" tIns="73152" rIns="164592"/>
          <a:lstStyle/>
          <a:p>
            <a:pPr algn="ctr"/>
            <a:r>
              <a:rPr b="1" sz="819">
                <a:solidFill>
                  <a:srgbClr val="8AB4F8"/>
                </a:solidFill>
              </a:rPr>
              <a:t>Root-Cause Intervention Strategy: </a:t>
            </a:r>
            <a:r>
              <a:rPr sz="800">
                <a:solidFill>
                  <a:srgbClr val="E8EAED"/>
                </a:solidFill>
              </a:rPr>
              <a:t>38% of conflicts stem from agricultural crop scent plumes, 27% from vulnerable night livestock, and 21% from climate &amp; mast failures. CoExist Shield AI forecasts these exact causal drivers to clear attractants and alert field workers before incursions occur.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